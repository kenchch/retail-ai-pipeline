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  <c:pt idx="6">
                    <c:v>W7</c:v>
                  </c:pt>
                  <c:pt idx="7">
                    <c:v>W8</c:v>
                  </c:pt>
                  <c:pt idx="8">
                    <c:v>W9</c:v>
                  </c:pt>
                  <c:pt idx="9">
                    <c:v>W10</c:v>
                  </c:pt>
                  <c:pt idx="10">
                    <c:v>W11</c:v>
                  </c:pt>
                  <c:pt idx="11">
                    <c:v>W12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8.1</c:v>
                </c:pt>
                <c:pt idx="1">
                  <c:v>16.1</c:v>
                </c:pt>
                <c:pt idx="2">
                  <c:v>33.9</c:v>
                </c:pt>
                <c:pt idx="3">
                  <c:v>25.8</c:v>
                </c:pt>
                <c:pt idx="4">
                  <c:v>22.6</c:v>
                </c:pt>
                <c:pt idx="5">
                  <c:v>30.6</c:v>
                </c:pt>
                <c:pt idx="6">
                  <c:v>27.4</c:v>
                </c:pt>
                <c:pt idx="7">
                  <c:v>43.5</c:v>
                </c:pt>
                <c:pt idx="8">
                  <c:v>37.1</c:v>
                </c:pt>
                <c:pt idx="9">
                  <c:v>45.2</c:v>
                </c:pt>
                <c:pt idx="10">
                  <c:v>45.2</c:v>
                </c:pt>
                <c:pt idx="11">
                  <c:v>41.9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open with a demo - open with the failure on slide 2. It answers the question the room is actually holding ('is this going to embarrass me?') in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directly: would you have shipped this? Let them react. Do not resolve it - the resolution is slide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for slide 2. Say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not on the chart. Note that we report the dips too - a chart with no dips is a chart nobody believes.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116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Frequently Bought Together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...and the three things it can't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  ·  no prerequisites  ·  you will not be asked to write any code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 ·  business engagement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you have shipped this?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row from the live tool - every number below is from the current table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949440" cy="2743200"/>
          </a:xfrm>
          <a:prstGeom prst="roundRect">
            <a:avLst>
              <a:gd name="adj" fmla="val 40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488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METAL LANTERN  →  WHITE HANGING HEART T-LIGHT HOLDER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baskets, confidence 0.28, lift 2.70</a:t>
            </a:r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looks like a finding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38328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...until you notice</a:t>
            </a:r>
            <a:pPr indent="0" marL="0">
              <a:buNone/>
            </a:pPr>
            <a:r>
              <a:rPr lang="en-US" sz="15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same t-light holder is recommended for 69 other products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in a large share of every basket, so it pairs with everything.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1828800"/>
            <a:ext cx="3291840" cy="2743200"/>
          </a:xfrm>
          <a:prstGeom prst="roundRect">
            <a:avLst>
              <a:gd name="adj" fmla="val 4000"/>
            </a:avLst>
          </a:prstGeom>
          <a:solidFill>
            <a:srgbClr val="2C3A7A"/>
          </a:solidFill>
          <a:ln w="12700">
            <a:solidFill>
              <a:srgbClr val="2C3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that thought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503920" y="26060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from the live table.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0:30 you'll be able to say in one sentence why this row is weak.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 is not affinity. Always ask what else that product is recommended for.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recommendation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row, one number at a time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CHILDS GARDEN SPADE PINK</a:t>
            </a:r>
            <a:pPr indent="0" marL="0">
              <a:buNone/>
            </a:pPr>
            <a:r>
              <a:rPr lang="en-US" sz="18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    </a:t>
            </a:r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CHILDS GARDEN SPADE BLUE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sample size. Read this first — a huge lift on 8 baskets is noise.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6344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baskets with the pink spade, 85% also had the blue one.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36676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234× more likely than chance. This is the ranking column.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the first row: lift 2.7 against 234 here. Same catalogue, two very different kinds of evidence.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signals — and they are not equal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method column before you build a plan on a row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03520" cy="3200400"/>
          </a:xfrm>
          <a:prstGeom prst="roundRect">
            <a:avLst>
              <a:gd name="adj" fmla="val 3429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384048" cy="384048"/>
          </a:xfrm>
          <a:prstGeom prst="ellipse">
            <a:avLst/>
          </a:prstGeom>
          <a:solidFill>
            <a:srgbClr val="0CA30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co_purchase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what people actually bought together.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signal — trust it in proportion to the basket count.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about 30% of the catalogue.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1920240"/>
            <a:ext cx="4937760" cy="3200400"/>
          </a:xfrm>
          <a:prstGeom prst="roundRect">
            <a:avLst>
              <a:gd name="adj" fmla="val 3429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2240280"/>
            <a:ext cx="384048" cy="384048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content_tfidf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49440" y="288036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product description text.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been observed buying these together — they simply read alike.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point, never evidence.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keep the weaker signal? Without it 7 products in 10 show an empty panel — and people generalise from the first empty screen they see.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it cannot 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first and unprompted — the credibility of everything else depends on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tell you why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54203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Bunting and paper plates co-occur because both are party purchases — not because one drives the other. Placing them together is sensible. Discounting one to lift the other is not.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see what you didn't stock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395935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out of stock for six weeks builds its pairings from the weeks it was available. It will look less connected than it 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decide anything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537667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writes to a trading system. Every recommendation is a suggestion a person accepts or rejects. That is a design decision, not a limitation.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it's going, and one ask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reach — % of the 62 licensed users active that week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6949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828800"/>
            <a:ext cx="3291840" cy="3291840"/>
          </a:xfrm>
          <a:prstGeom prst="roundRect">
            <a:avLst>
              <a:gd name="adj" fmla="val 3333"/>
            </a:avLst>
          </a:prstGeom>
          <a:solidFill>
            <a:srgbClr val="2C3A7A"/>
          </a:solidFill>
          <a:ln w="12700">
            <a:solidFill>
              <a:srgbClr val="2C3A7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0392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 and 8 are these workshops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503920" y="274320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→ 34% after the first.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 → 44% after the second.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held rather than decaying — which is the part that matters. A spike that decays means people looked once.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ask: use it once this week on a real decision, and tell us what happened. The feedback button is two clicks.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Frequently Bought Together - AI literacy workshop</dc:title>
  <dc:subject>PptxGenJS Presentation</dc:subject>
  <dc:creator>PptxGenJS</dc:creator>
  <cp:lastModifiedBy>PptxGenJS</cp:lastModifiedBy>
  <cp:revision>1</cp:revision>
  <dcterms:created xsi:type="dcterms:W3CDTF">2026-08-03T00:15:29Z</dcterms:created>
  <dcterms:modified xsi:type="dcterms:W3CDTF">2026-08-03T00:15:29Z</dcterms:modified>
</cp:coreProperties>
</file>