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slides/charts/chart1.xml" ContentType="application/vnd.openxmlformats-officedocument.drawingml.chart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5b825a7b69c34b85" /><Relationship Type="http://schemas.openxmlformats.org/officeDocument/2006/relationships/extended-properties" Target="/docProps/app.xml" Id="R20e3e2c922604c4d" /><Relationship Type="http://schemas.openxmlformats.org/officeDocument/2006/relationships/officeDocument" Target="/ppt/presentation.xml" Id="Rb56a7d80f3ac4b65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04ee57311b64422"/>
  </p:sldMasterIdLst>
  <p:notesMasterIdLst>
    <p:notesMasterId xmlns:r="http://schemas.openxmlformats.org/officeDocument/2006/relationships" r:id="R13aa80b6e5754721"/>
  </p:notesMasterIdLst>
  <p:sldIdLst>
    <p:sldId xmlns:r="http://schemas.openxmlformats.org/officeDocument/2006/relationships" id="256" r:id="Ra9502591750b4f89"/>
    <p:sldId xmlns:r="http://schemas.openxmlformats.org/officeDocument/2006/relationships" id="257" r:id="Rfe4b8661c5c74a64"/>
    <p:sldId xmlns:r="http://schemas.openxmlformats.org/officeDocument/2006/relationships" id="258" r:id="R1baf9e56ecab459c"/>
    <p:sldId xmlns:r="http://schemas.openxmlformats.org/officeDocument/2006/relationships" id="259" r:id="Rd6026a980488428a"/>
    <p:sldId xmlns:r="http://schemas.openxmlformats.org/officeDocument/2006/relationships" id="260" r:id="Rbdc4c45ecbde4cfb"/>
    <p:sldId xmlns:r="http://schemas.openxmlformats.org/officeDocument/2006/relationships" id="261" r:id="Rb64b4399cd184ef2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ebd834b0e8346b7" /><Relationship Type="http://schemas.openxmlformats.org/officeDocument/2006/relationships/slideMaster" Target="/ppt/slideMasters/slideMaster1.xml" Id="Re04ee57311b64422" /><Relationship Type="http://schemas.openxmlformats.org/officeDocument/2006/relationships/notesMaster" Target="/ppt/notesMasters/notesMaster1.xml" Id="R13aa80b6e5754721" /><Relationship Type="http://schemas.openxmlformats.org/officeDocument/2006/relationships/presProps" Target="/ppt/presProps.xml" Id="R52b21ca27cdc4a37" /><Relationship Type="http://schemas.openxmlformats.org/officeDocument/2006/relationships/viewProps" Target="/ppt/viewProps.xml" Id="Re53bc03a71834029" /><Relationship Type="http://schemas.openxmlformats.org/officeDocument/2006/relationships/tableStyles" Target="/ppt/tableStyles.xml" Id="Rf77c342babe643a5" /><Relationship Type="http://schemas.openxmlformats.org/officeDocument/2006/relationships/slide" Target="/ppt/slides/slide1.xml" Id="Ra9502591750b4f89" /><Relationship Type="http://schemas.openxmlformats.org/officeDocument/2006/relationships/slide" Target="/ppt/slides/slide2.xml" Id="Rfe4b8661c5c74a64" /><Relationship Type="http://schemas.openxmlformats.org/officeDocument/2006/relationships/slide" Target="/ppt/slides/slide3.xml" Id="R1baf9e56ecab459c" /><Relationship Type="http://schemas.openxmlformats.org/officeDocument/2006/relationships/slide" Target="/ppt/slides/slide4.xml" Id="Rd6026a980488428a" /><Relationship Type="http://schemas.openxmlformats.org/officeDocument/2006/relationships/slide" Target="/ppt/slides/slide5.xml" Id="Rbdc4c45ecbde4cfb" /><Relationship Type="http://schemas.openxmlformats.org/officeDocument/2006/relationships/slide" Target="/ppt/slides/slide6.xml" Id="Rb64b4399cd184ef2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df0698357369470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e579fd771f514371" /><Relationship Type="http://schemas.openxmlformats.org/officeDocument/2006/relationships/notesMaster" Target="/ppt/notesMasters/notesMaster1.xml" Id="Reaf1c82797324566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a2b4eb36a1294cad" /><Relationship Type="http://schemas.openxmlformats.org/officeDocument/2006/relationships/notesMaster" Target="/ppt/notesMasters/notesMaster1.xml" Id="Ra1b41fe78b3a41d4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b3a4260a0d04ced" /><Relationship Type="http://schemas.openxmlformats.org/officeDocument/2006/relationships/notesMaster" Target="/ppt/notesMasters/notesMaster1.xml" Id="R8451e85fe5314521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43bc91ffd11f4155" /><Relationship Type="http://schemas.openxmlformats.org/officeDocument/2006/relationships/notesMaster" Target="/ppt/notesMasters/notesMaster1.xml" Id="Rf61cd30c01194e15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76c116727df248a4" /><Relationship Type="http://schemas.openxmlformats.org/officeDocument/2006/relationships/notesMaster" Target="/ppt/notesMasters/notesMaster1.xml" Id="Rbd16bded5bee4c90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4fc60cfc43ef45c2" /><Relationship Type="http://schemas.openxmlformats.org/officeDocument/2006/relationships/notesMaster" Target="/ppt/notesMasters/notesMaster1.xml" Id="Rf90ca355a57a4ba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Do not open with a demo - open with the failure on slide 2. It answers the question the room is actually holding ('is this going to embarrass me?') in the first five minutes.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Ask directly: would you have shipped this? Let them react. Do not resolve it - the resolution is slide 3.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is the payoff for slide 2. Say it slowly.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Close on the ask, not on the chart. Note that we report the dips too - a chart with no dips is a chart nobody believes.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932936c639a48df" /></Relationships>
</file>

<file path=ppt/slideLayouts/slideLayout1.xml><?xml version="1.0" encoding="utf-8"?>
<p:sldLayout xmlns:p="http://schemas.openxmlformats.org/presentationml/2006/main" preserve="1">
  <p:cSld name="DEFAULT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78db996b195a4ade" /><Relationship Type="http://schemas.openxmlformats.org/officeDocument/2006/relationships/slideLayout" Target="/ppt/slideLayouts/slideLayout1.xml" Id="R791b8e2a74364d70" 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91b8e2a74364d70"/>
  </p:sldLayoutIdLst>
  <p:hf sldNum="0" hdr="0" ftr="0" dt="0"/>
  <p:txStyles>
    <p:titleStyle>
      <a:lvl1pPr xmlns:a="http://schemas.openxmlformats.org/drawingml/2006/main"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3b692bd7fdd4c83" /><Relationship Type="http://schemas.openxmlformats.org/officeDocument/2006/relationships/notesSlide" Target="/ppt/notesSlides/notesSlide1.xml" Id="Rf4e30152e5e0400e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0a922e7a36a4548" /><Relationship Type="http://schemas.openxmlformats.org/officeDocument/2006/relationships/notesSlide" Target="/ppt/notesSlides/notesSlide2.xml" Id="Rcfdf441ded624c8f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d2edf9c071e449f" /><Relationship Type="http://schemas.openxmlformats.org/officeDocument/2006/relationships/notesSlide" Target="/ppt/notesSlides/notesSlide3.xml" Id="Rc2640a74441b4044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1eb4e805b754cd6" /><Relationship Type="http://schemas.openxmlformats.org/officeDocument/2006/relationships/notesSlide" Target="/ppt/notesSlides/notesSlide4.xml" Id="Rf4dd44cbef834fa0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b45c83424924054" /><Relationship Type="http://schemas.openxmlformats.org/officeDocument/2006/relationships/notesSlide" Target="/ppt/notesSlides/notesSlide5.xml" Id="Rec944224ba9346e6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7507b0bf6c7423b" /><Relationship Type="http://schemas.openxmlformats.org/officeDocument/2006/relationships/chart" Target="/ppt/slides/charts/chart1.xml" Id="Rb9f37836c97943b6" /><Relationship Type="http://schemas.openxmlformats.org/officeDocument/2006/relationships/notesSlide" Target="/ppt/notesSlides/notesSlide6.xml" Id="R3ebf423957fa4d00" /></Relationships>
</file>

<file path=ppt/slides/charts/chart1.xml><?xml version="1.0" encoding="utf-8"?>
<c:chartSpace xmlns:c="http://schemas.openxmlformats.org/drawingml/2006/chart">
  <c:lang val="en-US"/>
  <c:roundedCorners val="1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Reach</c:v>
                </c:pt>
              </c:strCache>
            </c:strRef>
          </c:tx>
          <c:spPr>
            <a:solidFill xmlns:a="http://schemas.openxmlformats.org/drawingml/2006/main">
              <a:srgbClr val="2A78D6"/>
            </a:solidFill>
            <a:ln xmlns:a="http://schemas.openxmlformats.org/drawingml/2006/main" w="38100">
              <a:solidFill>
                <a:srgbClr val="2A78D6"/>
              </a:solidFill>
              <a:prstDash val="solid"/>
            </a:ln>
          </c:spPr>
          <c:marker>
            <c:symbol val="circle"/>
            <c:size val="6"/>
            <c:spPr>
              <a:solidFill xmlns:a="http://schemas.openxmlformats.org/drawingml/2006/main">
                <a:srgbClr val="2A78D6"/>
              </a:solidFill>
              <a:ln xmlns:a="http://schemas.openxmlformats.org/drawingml/2006/main" w="9525">
                <a:solidFill>
                  <a:srgbClr val="2A78D6"/>
                </a:solidFill>
                <a:prstDash val="solid"/>
              </a:ln>
            </c:spPr>
          </c:marker>
          <c:dLbls>
            <c:numFmt formatCode="#,##0" sourceLinked="0"/>
            <c:txPr>
              <a:bodyPr xmlns:a="http://schemas.openxmlformats.org/drawingml/2006/main" anchorCtr="1"/>
              <a:lstStyle xmlns:a="http://schemas.openxmlformats.org/drawingml/2006/main"/>
              <a:p xmlns:a="http://schemas.openxmlformats.org/drawingml/2006/main">
                <a:pPr>
                  <a:defRPr sz="1200" b="0" i="0" u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strRef>
              <c:f>Sheet1!$A$2:$A$13</c:f>
              <c:strCache>
                <c:ptCount val="12"/>
                <c:pt idx="0">
                  <c:v>W1</c:v>
                </c:pt>
                <c:pt idx="1">
                  <c:v>W2</c:v>
                </c:pt>
                <c:pt idx="2">
                  <c:v>W3</c:v>
                </c:pt>
                <c:pt idx="3">
                  <c:v>W4</c:v>
                </c:pt>
                <c:pt idx="4">
                  <c:v>W5</c:v>
                </c:pt>
                <c:pt idx="5">
                  <c:v>W6</c:v>
                </c:pt>
                <c:pt idx="6">
                  <c:v>W7</c:v>
                </c:pt>
                <c:pt idx="7">
                  <c:v>W8</c:v>
                </c:pt>
                <c:pt idx="8">
                  <c:v>W9</c:v>
                </c:pt>
                <c:pt idx="9">
                  <c:v>W10</c:v>
                </c:pt>
                <c:pt idx="10">
                  <c:v>W11</c:v>
                </c:pt>
                <c:pt idx="11">
                  <c:v>W12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8.1</c:v>
                </c:pt>
                <c:pt idx="1">
                  <c:v>16.1</c:v>
                </c:pt>
                <c:pt idx="2">
                  <c:v>33.9</c:v>
                </c:pt>
                <c:pt idx="3">
                  <c:v>25.8</c:v>
                </c:pt>
                <c:pt idx="4">
                  <c:v>22.6</c:v>
                </c:pt>
                <c:pt idx="5">
                  <c:v>30.6</c:v>
                </c:pt>
                <c:pt idx="6">
                  <c:v>27.4</c:v>
                </c:pt>
                <c:pt idx="7">
                  <c:v>43.5</c:v>
                </c:pt>
                <c:pt idx="8">
                  <c:v>37.1</c:v>
                </c:pt>
                <c:pt idx="9">
                  <c:v>45.2</c:v>
                </c:pt>
                <c:pt idx="10">
                  <c:v>45.2</c:v>
                </c:pt>
                <c:pt idx="11">
                  <c:v>41.9</c:v>
                </c:pt>
              </c:numCache>
            </c:numRef>
          </c:val>
          <c:smooth val="0"/>
        </c:ser>
        <c:dLbls>
          <c:numFmt formatCode="#,##0" sourceLinked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200" b="0" i="0" u="none">
                  <a:solidFill>
                    <a:srgbClr val="000000"/>
                  </a:solidFill>
                  <a:latin typeface="Arial"/>
                  <a:ea typeface="Arial"/>
                  <a:cs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xmlns:a="http://schemas.openxmlformats.org/drawingml/2006/main" w="12700">
            <a:solidFill>
              <a:srgbClr val="888888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100" b="0" i="0" u="none">
                <a:solidFill>
                  <a:srgbClr val="898781"/>
                </a:solidFill>
                <a:latin typeface="Calibri"/>
                <a:ea typeface="Calibri"/>
                <a:cs typeface="Calibri"/>
              </a:defRPr>
            </a:pPr>
          </a:p>
        </c:txPr>
        <c:crossAx val="2094734552"/>
        <c:crosses val="autoZero"/>
      </c:catAx>
      <c:valAx>
        <c:axId val="2094734552"/>
        <c:scaling>
          <c:orientation val="minMax"/>
          <c:max val="50"/>
          <c:min val="0"/>
        </c:scaling>
        <c:delete val="0"/>
        <c:axPos val="l"/>
        <c:majorGridlines>
          <c:spPr>
            <a:ln xmlns:a="http://schemas.openxmlformats.org/drawingml/2006/main" w="12700">
              <a:solidFill>
                <a:srgbClr val="E1E0D9"/>
              </a:solidFill>
              <a:prstDash val="solid"/>
            </a:ln>
          </c:spPr>
        </c:majorGridlines>
        <c:numFmt formatCode="General" sourceLinked="0"/>
        <c:majorTickMark val="out"/>
        <c:minorTickMark val="none"/>
        <c:tickLblPos val="nextTo"/>
        <c:spPr>
          <a:ln xmlns:a="http://schemas.openxmlformats.org/drawingml/2006/main" w="12700">
            <a:solidFill>
              <a:srgbClr val="888888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100" b="0" i="0" u="none">
                <a:solidFill>
                  <a:srgbClr val="898781"/>
                </a:solidFill>
                <a:latin typeface="Calibri"/>
                <a:ea typeface="Calibri"/>
                <a:cs typeface="Calibri"/>
              </a:defRPr>
            </a:pPr>
          </a:p>
        </c:txPr>
        <c:crossAx val="2094734554"/>
        <c:crosses val="autoZero"/>
        <c:crossBetween val="between"/>
      </c:valAx>
      <c:spPr>
        <a:noFill xmlns:a="http://schemas.openxmlformats.org/drawingml/2006/main"/>
        <a:ln xmlns:a="http://schemas.openxmlformats.org/drawingml/2006/main">
          <a:noFill/>
        </a:ln>
      </c:spPr>
    </c:plotArea>
    <c:plotVisOnly val="1"/>
  </c:chart>
  <c:spPr>
    <a:noFill xmlns:a="http://schemas.openxmlformats.org/drawingml/2006/main"/>
    <a:ln xmlns:a="http://schemas.openxmlformats.org/drawingml/2006/main">
      <a:noFill/>
    </a:ln>
  </c:spPr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E276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0E1BAC5D-4D27-463F-9BD7-8E86A2C2C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011680"/>
            <a:ext cx="1024128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44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Frequently Bought Together</a:t>
            </a:r>
            <a:endParaRPr sz="44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2F179329-A2B4-4E90-9ABF-16A49006A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880360"/>
            <a:ext cx="1024128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i="1">
                <a:solidFill>
                  <a:srgbClr val="CADCFC"/>
                </a:solidFill>
                <a:latin typeface="Cambria"/>
                <a:ea typeface="Cambria"/>
                <a:cs typeface="Cambria"/>
              </a:rPr>
              <a:t>...and the three things it can't do</a:t>
            </a:r>
            <a:endParaRPr sz="30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D0430BA1-258A-4AD8-97AE-8CCB94061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977640"/>
            <a:ext cx="102412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>
                <a:solidFill>
                  <a:srgbClr val="CADCFC"/>
                </a:solidFill>
                <a:latin typeface="Calibri"/>
                <a:ea typeface="Calibri"/>
                <a:cs typeface="Calibri"/>
              </a:rPr>
              <a:t>60 minutes  ·  illustrative portfolio scenario  ·  simulated telemetry  ·  nothing deployed</a:t>
            </a:r>
            <a:endParaRPr sz="1600"/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2D2FC87D-E829-4642-8D28-FFB82611F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943600"/>
            <a:ext cx="1024128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>
                <a:solidFill>
                  <a:srgbClr val="9BA9D6"/>
                </a:solidFill>
                <a:latin typeface="Calibri"/>
                <a:ea typeface="Calibri"/>
                <a:cs typeface="Calibri"/>
              </a:rPr>
              <a:t>AI Engineering  ·  business engagement</a:t>
            </a:r>
            <a:endParaRPr sz="1300"/>
          </a:p>
        </p:txBody>
      </p:sp>
    </p:spTree>
    <p:extLst>
      <p:ext uri="{BB962C8B-B14F-4D97-AF65-F5344CB8AC3E}">
        <p14:creationId xmlns:p14="http://schemas.microsoft.com/office/powerpoint/2010/main" val="844462314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5E544E0A-B3F6-4B95-9089-F354D6573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11480"/>
            <a:ext cx="1088136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400" b="1">
                <a:solidFill>
                  <a:srgbClr val="0B0B0B"/>
                </a:solidFill>
                <a:latin typeface="Cambria"/>
                <a:ea typeface="Cambria"/>
                <a:cs typeface="Cambria"/>
              </a:rPr>
              <a:t>Would you have shipped this?</a:t>
            </a:r>
            <a:endParaRPr sz="34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85839C22-7D98-4C83-A1F8-A0E74FF55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115568"/>
            <a:ext cx="108813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>
                <a:solidFill>
                  <a:srgbClr val="52514E"/>
                </a:solidFill>
                <a:latin typeface="Calibri"/>
                <a:ea typeface="Calibri"/>
                <a:cs typeface="Calibri"/>
              </a:rPr>
              <a:t>A row from the simulated adoption table - every number below is generated test data</a:t>
            </a:r>
            <a:endParaRPr sz="15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2C4B00C6-74EC-4916-AF78-067F29030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828800"/>
            <a:ext cx="6949440" cy="27432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F1F5FC"/>
          </a:solidFill>
          <a:ln xmlns:a="http://schemas.openxmlformats.org/drawingml/2006/main" w="12700">
            <a:solidFill>
              <a:srgbClr val="E3E8F2"/>
            </a:solidFill>
            <a:prstDash val="solid"/>
          </a:ln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0A69261D-74C5-45EB-9D75-B39AE3CBC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2148840"/>
            <a:ext cx="621792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 b="1">
                <a:solidFill>
                  <a:srgbClr val="0B0B0B"/>
                </a:solidFill>
                <a:latin typeface="Calibri"/>
                <a:ea typeface="Calibri"/>
                <a:cs typeface="Calibri"/>
              </a:rPr>
              <a:t>WHITE METAL LANTERN  →  WHITE HANGING HEART T-LIGHT HOLDER</a:t>
            </a:r>
            <a:endParaRPr sz="1600"/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D49594B3-0AA4-4C1D-90EC-68F298442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2926080"/>
            <a:ext cx="62179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0B0B0B"/>
                </a:solidFill>
                <a:latin typeface="Calibri"/>
                <a:ea typeface="Calibri"/>
                <a:cs typeface="Calibri"/>
              </a:rPr>
              <a:t>63 baskets, confidence 0.28, lift 2.70</a:t>
            </a:r>
            <a:r>
              <a:rPr sz="1500">
                <a:solidFill>
                  <a:srgbClr val="52514E"/>
                </a:solidFill>
                <a:latin typeface="Calibri"/>
                <a:ea typeface="Calibri"/>
                <a:cs typeface="Calibri"/>
              </a:rPr>
              <a:t>   —   looks like a finding</a:t>
            </a:r>
            <a:endParaRPr sz="150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13CF892E-805D-4133-97C6-27D2C71CE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3383280"/>
            <a:ext cx="621792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>
                <a:solidFill>
                  <a:srgbClr val="52514E"/>
                </a:solidFill>
                <a:latin typeface="Calibri"/>
                <a:ea typeface="Calibri"/>
                <a:cs typeface="Calibri"/>
              </a:rPr>
              <a:t>...until you notice</a:t>
            </a:r>
            <a:r>
              <a:rPr sz="1500" b="1">
                <a:solidFill>
                  <a:srgbClr val="D03B3B"/>
                </a:solidFill>
                <a:latin typeface="Calibri"/>
                <a:ea typeface="Calibri"/>
                <a:cs typeface="Calibri"/>
              </a:rPr>
              <a:t> the same t-light holder is recommended for 69 other products</a:t>
            </a:r>
            <a:endParaRPr sz="1500"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81510531-A1B3-4D37-9DC1-BD8040F33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4069080"/>
            <a:ext cx="62179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>
                <a:solidFill>
                  <a:srgbClr val="52514E"/>
                </a:solidFill>
                <a:latin typeface="Calibri"/>
                <a:ea typeface="Calibri"/>
                <a:cs typeface="Calibri"/>
              </a:rPr>
              <a:t>It is in a large share of every basket, so it pairs with everything.</a:t>
            </a:r>
            <a:endParaRPr sz="1500"/>
          </a:p>
        </p:txBody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48D8CFA6-50F1-4365-AD9D-82C312E5B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1828800"/>
            <a:ext cx="3291840" cy="27432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2C3A7A"/>
          </a:solidFill>
          <a:ln xmlns:a="http://schemas.openxmlformats.org/drawingml/2006/main" w="12700">
            <a:solidFill>
              <a:srgbClr val="2C3A7A"/>
            </a:solidFill>
            <a:prstDash val="solid"/>
          </a:ln>
        </p:spPr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3EA122D1-8DC8-4DDD-ABF9-25345F928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3920" y="2103120"/>
            <a:ext cx="27432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9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Hold that thought</a:t>
            </a:r>
            <a:endParaRPr sz="1900"/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801144F0-CBC0-4621-B34B-BFB453026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3920" y="2606040"/>
            <a:ext cx="2743200" cy="1828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CADCFC"/>
                </a:solidFill>
                <a:latin typeface="Calibri"/>
                <a:ea typeface="Calibri"/>
                <a:cs typeface="Calibri"/>
              </a:rPr>
              <a:t>Every number here is from the live table.</a:t>
            </a:r>
            <a:endParaRPr sz="1400"/>
          </a:p>
          <a:p xmlns:a="http://schemas.openxmlformats.org/drawingml/2006/main">
            <a:pPr marL="0" indent="0">
              <a:buNone/>
            </a:pPr>
            <a:endParaRPr sz="1400"/>
          </a:p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CADCFC"/>
                </a:solidFill>
                <a:latin typeface="Calibri"/>
                <a:ea typeface="Calibri"/>
                <a:cs typeface="Calibri"/>
              </a:rPr>
              <a:t>By 0:30 you'll be able to say in one sentence why this row is weak.</a:t>
            </a:r>
            <a:endParaRPr sz="1400"/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819EA4FB-C7B9-4556-8D75-EC4FB4529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937760"/>
            <a:ext cx="108813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 i="1">
                <a:solidFill>
                  <a:srgbClr val="52514E"/>
                </a:solidFill>
                <a:latin typeface="Calibri"/>
                <a:ea typeface="Calibri"/>
                <a:cs typeface="Calibri"/>
              </a:rPr>
              <a:t>Popularity is not affinity. Always ask what else that product is recommended for.</a:t>
            </a:r>
            <a:endParaRPr sz="1600"/>
          </a:p>
        </p:txBody>
      </p:sp>
    </p:spTree>
    <p:extLst>
      <p:ext uri="{BB962C8B-B14F-4D97-AF65-F5344CB8AC3E}">
        <p14:creationId xmlns:p14="http://schemas.microsoft.com/office/powerpoint/2010/main" val="1640326218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86CD2268-6C1B-45C7-BF74-C3C6B670B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11480"/>
            <a:ext cx="1088136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400" b="1">
                <a:solidFill>
                  <a:srgbClr val="0B0B0B"/>
                </a:solidFill>
                <a:latin typeface="Cambria"/>
                <a:ea typeface="Cambria"/>
                <a:cs typeface="Cambria"/>
              </a:rPr>
              <a:t>Reading a recommendation</a:t>
            </a:r>
            <a:endParaRPr sz="34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9BD8DEA0-5155-43DE-B729-53F312874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115568"/>
            <a:ext cx="108813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>
                <a:solidFill>
                  <a:srgbClr val="52514E"/>
                </a:solidFill>
                <a:latin typeface="Calibri"/>
                <a:ea typeface="Calibri"/>
                <a:cs typeface="Calibri"/>
              </a:rPr>
              <a:t>One real row, one number at a time</a:t>
            </a:r>
            <a:endParaRPr sz="15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D2C16DAF-3F28-40DF-A79B-A6328308D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783080"/>
            <a:ext cx="10881360" cy="868680"/>
          </a:xfrm>
          <a:prstGeom xmlns:a="http://schemas.openxmlformats.org/drawingml/2006/main" prst="roundRect">
            <a:avLst>
              <a:gd name="adj" fmla="val 12632"/>
            </a:avLst>
          </a:prstGeom>
          <a:solidFill xmlns:a="http://schemas.openxmlformats.org/drawingml/2006/main">
            <a:srgbClr val="F1F5FC"/>
          </a:solidFill>
          <a:ln xmlns:a="http://schemas.openxmlformats.org/drawingml/2006/main" w="12700">
            <a:solidFill>
              <a:srgbClr val="E3E8F2"/>
            </a:solidFill>
            <a:prstDash val="solid"/>
          </a:ln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D679D704-A4B7-4BE3-99FE-F4483E435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1783080"/>
            <a:ext cx="10149840" cy="868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 b="1">
                <a:solidFill>
                  <a:srgbClr val="0B0B0B"/>
                </a:solidFill>
                <a:latin typeface="Calibri"/>
                <a:ea typeface="Calibri"/>
                <a:cs typeface="Calibri"/>
              </a:rPr>
              <a:t>CHILDS GARDEN SPADE PINK</a:t>
            </a:r>
            <a:r>
              <a:rPr sz="1800">
                <a:solidFill>
                  <a:srgbClr val="898781"/>
                </a:solidFill>
                <a:latin typeface="Calibri"/>
                <a:ea typeface="Calibri"/>
                <a:cs typeface="Calibri"/>
              </a:rPr>
              <a:t>     →     </a:t>
            </a:r>
            <a:r>
              <a:rPr sz="1800" b="1">
                <a:solidFill>
                  <a:srgbClr val="0B0B0B"/>
                </a:solidFill>
                <a:latin typeface="Calibri"/>
                <a:ea typeface="Calibri"/>
                <a:cs typeface="Calibri"/>
              </a:rPr>
              <a:t>CHILDS GARDEN SPADE BLUE</a:t>
            </a:r>
            <a:endParaRPr sz="1800"/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8CCB3092-741A-442A-8947-45C78E9F1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926080"/>
            <a:ext cx="3429000" cy="2286000"/>
          </a:xfrm>
          <a:prstGeom xmlns:a="http://schemas.openxmlformats.org/drawingml/2006/main" prst="roundRect">
            <a:avLst>
              <a:gd name="adj" fmla="val 4800"/>
            </a:avLst>
          </a:prstGeom>
          <a:solidFill xmlns:a="http://schemas.openxmlformats.org/drawingml/2006/main">
            <a:srgbClr val="F1F5FC"/>
          </a:solidFill>
          <a:ln xmlns:a="http://schemas.openxmlformats.org/drawingml/2006/main" w="12700">
            <a:solidFill>
              <a:srgbClr val="E3E8F2"/>
            </a:solidFill>
            <a:prstDash val="solid"/>
          </a:ln>
        </p:spPr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6E5744BC-AA58-461F-89F2-D6C151973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3108960"/>
            <a:ext cx="2788920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4600" b="1">
                <a:solidFill>
                  <a:srgbClr val="2A78D6"/>
                </a:solidFill>
                <a:latin typeface="Calibri"/>
                <a:ea typeface="Calibri"/>
                <a:cs typeface="Calibri"/>
              </a:rPr>
              <a:t>40</a:t>
            </a:r>
            <a:endParaRPr sz="4600"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0EFA0B62-964C-4C37-8D34-0F74967EF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3886200"/>
            <a:ext cx="27889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898781"/>
                </a:solidFill>
                <a:latin typeface="Calibri"/>
                <a:ea typeface="Calibri"/>
                <a:cs typeface="Calibri"/>
              </a:rPr>
              <a:t>baskets</a:t>
            </a:r>
            <a:endParaRPr sz="1400"/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FA78C074-BD8B-42DE-BF79-A5275B728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4251960"/>
            <a:ext cx="2788920" cy="868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>
                <a:solidFill>
                  <a:srgbClr val="52514E"/>
                </a:solidFill>
                <a:latin typeface="Calibri"/>
                <a:ea typeface="Calibri"/>
                <a:cs typeface="Calibri"/>
              </a:rPr>
              <a:t>Your sample size. Read this first — a huge lift on 8 baskets is noise.</a:t>
            </a:r>
            <a:endParaRPr sz="1300"/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16463EC6-E2D0-4F1F-94D8-87DA7755C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926080"/>
            <a:ext cx="3429000" cy="2286000"/>
          </a:xfrm>
          <a:prstGeom xmlns:a="http://schemas.openxmlformats.org/drawingml/2006/main" prst="roundRect">
            <a:avLst>
              <a:gd name="adj" fmla="val 4800"/>
            </a:avLst>
          </a:prstGeom>
          <a:solidFill xmlns:a="http://schemas.openxmlformats.org/drawingml/2006/main">
            <a:srgbClr val="F1F5FC"/>
          </a:solidFill>
          <a:ln xmlns:a="http://schemas.openxmlformats.org/drawingml/2006/main" w="12700">
            <a:solidFill>
              <a:srgbClr val="E3E8F2"/>
            </a:solidFill>
            <a:prstDash val="solid"/>
          </a:ln>
        </p:spPr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5E392EEF-9224-4D35-AE55-5ECC7247B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3440" y="3108960"/>
            <a:ext cx="2788920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4600" b="1">
                <a:solidFill>
                  <a:srgbClr val="2A78D6"/>
                </a:solidFill>
                <a:latin typeface="Calibri"/>
                <a:ea typeface="Calibri"/>
                <a:cs typeface="Calibri"/>
              </a:rPr>
              <a:t>0.85</a:t>
            </a:r>
            <a:endParaRPr sz="4600"/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001FED98-0E95-4028-9A46-BF3D3ED487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3440" y="3886200"/>
            <a:ext cx="27889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898781"/>
                </a:solidFill>
                <a:latin typeface="Calibri"/>
                <a:ea typeface="Calibri"/>
                <a:cs typeface="Calibri"/>
              </a:rPr>
              <a:t>confidence</a:t>
            </a:r>
            <a:endParaRPr sz="140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C5F0F492-FAC1-4EED-8231-F2D942028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3440" y="4251960"/>
            <a:ext cx="2788920" cy="868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>
                <a:solidFill>
                  <a:srgbClr val="52514E"/>
                </a:solidFill>
                <a:latin typeface="Calibri"/>
                <a:ea typeface="Calibri"/>
                <a:cs typeface="Calibri"/>
              </a:rPr>
              <a:t>Of baskets with the pink spade, 85% also had the blue one.</a:t>
            </a:r>
            <a:endParaRPr sz="1300"/>
          </a:p>
        </p:txBody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45495D55-BE76-4155-8527-652B15C9D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0" y="2926080"/>
            <a:ext cx="3429000" cy="2286000"/>
          </a:xfrm>
          <a:prstGeom xmlns:a="http://schemas.openxmlformats.org/drawingml/2006/main" prst="roundRect">
            <a:avLst>
              <a:gd name="adj" fmla="val 4800"/>
            </a:avLst>
          </a:prstGeom>
          <a:solidFill xmlns:a="http://schemas.openxmlformats.org/drawingml/2006/main">
            <a:srgbClr val="F1F5FC"/>
          </a:solidFill>
          <a:ln xmlns:a="http://schemas.openxmlformats.org/drawingml/2006/main" w="12700">
            <a:solidFill>
              <a:srgbClr val="E3E8F2"/>
            </a:solidFill>
            <a:prstDash val="solid"/>
          </a:ln>
        </p:spPr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5344A2E0-7119-4546-9A55-D8C4E5C84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6760" y="3108960"/>
            <a:ext cx="2788920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4600" b="1">
                <a:solidFill>
                  <a:srgbClr val="0CA30C"/>
                </a:solidFill>
                <a:latin typeface="Calibri"/>
                <a:ea typeface="Calibri"/>
                <a:cs typeface="Calibri"/>
              </a:rPr>
              <a:t>234</a:t>
            </a:r>
            <a:endParaRPr sz="4600"/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90A7C15D-F624-475D-BE3B-5AE7D061B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6760" y="3886200"/>
            <a:ext cx="27889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898781"/>
                </a:solidFill>
                <a:latin typeface="Calibri"/>
                <a:ea typeface="Calibri"/>
                <a:cs typeface="Calibri"/>
              </a:rPr>
              <a:t>lift</a:t>
            </a:r>
            <a:endParaRPr sz="1400"/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F60AE298-827C-4BD9-BA7D-5AA475C45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6760" y="4251960"/>
            <a:ext cx="2788920" cy="868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>
                <a:solidFill>
                  <a:srgbClr val="52514E"/>
                </a:solidFill>
                <a:latin typeface="Calibri"/>
                <a:ea typeface="Calibri"/>
                <a:cs typeface="Calibri"/>
              </a:rPr>
              <a:t>234× more likely than chance. This is the ranking column.</a:t>
            </a:r>
            <a:endParaRPr sz="1300"/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E3A073FB-A5BE-4FF6-BEFE-EB3F57B6D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532120"/>
            <a:ext cx="108813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i="1">
                <a:solidFill>
                  <a:srgbClr val="52514E"/>
                </a:solidFill>
                <a:latin typeface="Calibri"/>
                <a:ea typeface="Calibri"/>
                <a:cs typeface="Calibri"/>
              </a:rPr>
              <a:t>Back to the first row: lift 2.7 against 234 here. Same catalogue, two very different kinds of evidence.</a:t>
            </a:r>
            <a:endParaRPr sz="1500"/>
          </a:p>
        </p:txBody>
      </p:sp>
    </p:spTree>
    <p:extLst>
      <p:ext uri="{BB962C8B-B14F-4D97-AF65-F5344CB8AC3E}">
        <p14:creationId xmlns:p14="http://schemas.microsoft.com/office/powerpoint/2010/main" val="2113235291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69DB0486-6749-42D8-A4FD-F1FAF81F3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11480"/>
            <a:ext cx="1088136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400" b="1">
                <a:solidFill>
                  <a:srgbClr val="0B0B0B"/>
                </a:solidFill>
                <a:latin typeface="Cambria"/>
                <a:ea typeface="Cambria"/>
                <a:cs typeface="Cambria"/>
              </a:rPr>
              <a:t>Two signals — and they are not equal</a:t>
            </a:r>
            <a:endParaRPr sz="34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23387DB0-8434-4712-89C5-769579300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115568"/>
            <a:ext cx="108813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>
                <a:solidFill>
                  <a:srgbClr val="52514E"/>
                </a:solidFill>
                <a:latin typeface="Calibri"/>
                <a:ea typeface="Calibri"/>
                <a:cs typeface="Calibri"/>
              </a:rPr>
              <a:t>Check the method column before you build a plan on a row</a:t>
            </a:r>
            <a:endParaRPr sz="15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432155E4-867C-4FA3-9082-7E98298BC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920240"/>
            <a:ext cx="5303520" cy="3200400"/>
          </a:xfrm>
          <a:prstGeom xmlns:a="http://schemas.openxmlformats.org/drawingml/2006/main" prst="roundRect">
            <a:avLst>
              <a:gd name="adj" fmla="val 3429"/>
            </a:avLst>
          </a:prstGeom>
          <a:solidFill xmlns:a="http://schemas.openxmlformats.org/drawingml/2006/main">
            <a:srgbClr val="F1F5FC"/>
          </a:solidFill>
          <a:ln xmlns:a="http://schemas.openxmlformats.org/drawingml/2006/main" w="12700">
            <a:solidFill>
              <a:srgbClr val="E3E8F2"/>
            </a:solidFill>
            <a:prstDash val="solid"/>
          </a:ln>
        </p:spPr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9D6BFF8A-D4C8-4036-8DE1-DECF5E66B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2240280"/>
            <a:ext cx="384048" cy="38404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CA30C"/>
          </a:solidFill>
        </p:spPr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C0E1C21B-E4E4-4AA9-A2B3-5DD3EF20B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2240280"/>
            <a:ext cx="384048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✓</a:t>
            </a:r>
            <a:endParaRPr sz="150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B123CE48-516F-4741-8F61-3787A80EA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4480" y="2240280"/>
            <a:ext cx="402336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000" b="1">
                <a:solidFill>
                  <a:srgbClr val="0B0B0B"/>
                </a:solidFill>
                <a:latin typeface="Calibri"/>
                <a:ea typeface="Calibri"/>
                <a:cs typeface="Calibri"/>
              </a:rPr>
              <a:t>co_purchase</a:t>
            </a:r>
            <a:endParaRPr sz="2000"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ECF24707-6D1C-440C-97A2-5DB9FB2C4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2880360"/>
            <a:ext cx="4572000" cy="2011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>
                <a:solidFill>
                  <a:srgbClr val="52514E"/>
                </a:solidFill>
                <a:latin typeface="Calibri"/>
                <a:ea typeface="Calibri"/>
                <a:cs typeface="Calibri"/>
              </a:rPr>
              <a:t>Built from what people actually bought together.</a:t>
            </a:r>
            <a:endParaRPr sz="1500"/>
          </a:p>
          <a:p xmlns:a="http://schemas.openxmlformats.org/drawingml/2006/main">
            <a:pPr marL="0" indent="0">
              <a:buNone/>
            </a:pPr>
            <a:endParaRPr sz="1500"/>
          </a:p>
          <a:p xmlns:a="http://schemas.openxmlformats.org/drawingml/2006/main">
            <a:pPr marL="0" indent="0">
              <a:buNone/>
            </a:pPr>
            <a:r>
              <a:rPr sz="1500">
                <a:solidFill>
                  <a:srgbClr val="52514E"/>
                </a:solidFill>
                <a:latin typeface="Calibri"/>
                <a:ea typeface="Calibri"/>
                <a:cs typeface="Calibri"/>
              </a:rPr>
              <a:t>The real signal — trust it in proportion to the basket count.</a:t>
            </a:r>
            <a:endParaRPr sz="1500"/>
          </a:p>
          <a:p xmlns:a="http://schemas.openxmlformats.org/drawingml/2006/main">
            <a:pPr marL="0" indent="0">
              <a:buNone/>
            </a:pPr>
            <a:endParaRPr sz="1500"/>
          </a:p>
          <a:p xmlns:a="http://schemas.openxmlformats.org/drawingml/2006/main">
            <a:pPr marL="0" indent="0">
              <a:buNone/>
            </a:pPr>
            <a:r>
              <a:rPr sz="1500">
                <a:solidFill>
                  <a:srgbClr val="52514E"/>
                </a:solidFill>
                <a:latin typeface="Calibri"/>
                <a:ea typeface="Calibri"/>
                <a:cs typeface="Calibri"/>
              </a:rPr>
              <a:t>Covers about 30% of the catalogue.</a:t>
            </a:r>
            <a:endParaRPr sz="1500"/>
          </a:p>
        </p:txBody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44951942-D1B6-4921-9727-38423DE99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1920240"/>
            <a:ext cx="4937760" cy="3200400"/>
          </a:xfrm>
          <a:prstGeom xmlns:a="http://schemas.openxmlformats.org/drawingml/2006/main" prst="roundRect">
            <a:avLst>
              <a:gd name="adj" fmla="val 3429"/>
            </a:avLst>
          </a:prstGeom>
          <a:solidFill xmlns:a="http://schemas.openxmlformats.org/drawingml/2006/main">
            <a:srgbClr val="F1F5FC"/>
          </a:solidFill>
          <a:ln xmlns:a="http://schemas.openxmlformats.org/drawingml/2006/main" w="12700">
            <a:solidFill>
              <a:srgbClr val="E3E8F2"/>
            </a:solidFill>
            <a:prstDash val="solid"/>
          </a:ln>
        </p:spPr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8AA0A533-57A8-4E3C-BBDA-14D40EB22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0" y="2240280"/>
            <a:ext cx="384048" cy="38404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03B3B"/>
          </a:solidFill>
        </p:spPr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720879D0-D8B7-4CFE-B1A1-42C456D1B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0" y="2240280"/>
            <a:ext cx="384048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!</a:t>
            </a:r>
            <a:endParaRPr sz="1500"/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12767D39-DB92-405B-90F3-A20786B7A2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0" y="2240280"/>
            <a:ext cx="365760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000" b="1">
                <a:solidFill>
                  <a:srgbClr val="0B0B0B"/>
                </a:solidFill>
                <a:latin typeface="Calibri"/>
                <a:ea typeface="Calibri"/>
                <a:cs typeface="Calibri"/>
              </a:rPr>
              <a:t>content_tfidf</a:t>
            </a:r>
            <a:endParaRPr sz="200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890641FC-769C-4B01-B0E4-D7FDFC91E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0" y="2880360"/>
            <a:ext cx="4206240" cy="2011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>
                <a:solidFill>
                  <a:srgbClr val="52514E"/>
                </a:solidFill>
                <a:latin typeface="Calibri"/>
                <a:ea typeface="Calibri"/>
                <a:cs typeface="Calibri"/>
              </a:rPr>
              <a:t>Built from the product description text.</a:t>
            </a:r>
            <a:endParaRPr sz="1500"/>
          </a:p>
          <a:p xmlns:a="http://schemas.openxmlformats.org/drawingml/2006/main">
            <a:pPr marL="0" indent="0">
              <a:buNone/>
            </a:pPr>
            <a:endParaRPr sz="1500"/>
          </a:p>
          <a:p xmlns:a="http://schemas.openxmlformats.org/drawingml/2006/main">
            <a:pPr marL="0" indent="0">
              <a:buNone/>
            </a:pPr>
            <a:r>
              <a:rPr sz="1500">
                <a:solidFill>
                  <a:srgbClr val="52514E"/>
                </a:solidFill>
                <a:latin typeface="Calibri"/>
                <a:ea typeface="Calibri"/>
                <a:cs typeface="Calibri"/>
              </a:rPr>
              <a:t>Nobody has been observed buying these together — they simply read alike.</a:t>
            </a:r>
            <a:endParaRPr sz="1500"/>
          </a:p>
          <a:p xmlns:a="http://schemas.openxmlformats.org/drawingml/2006/main">
            <a:pPr marL="0" indent="0">
              <a:buNone/>
            </a:pPr>
            <a:endParaRPr sz="1500"/>
          </a:p>
          <a:p xmlns:a="http://schemas.openxmlformats.org/drawingml/2006/main">
            <a:pPr marL="0" indent="0">
              <a:buNone/>
            </a:pPr>
            <a:r>
              <a:rPr sz="1500">
                <a:solidFill>
                  <a:srgbClr val="52514E"/>
                </a:solidFill>
                <a:latin typeface="Calibri"/>
                <a:ea typeface="Calibri"/>
                <a:cs typeface="Calibri"/>
              </a:rPr>
              <a:t>A starting point, never evidence.</a:t>
            </a:r>
            <a:endParaRPr sz="150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9F2BAEAA-CD80-4521-BEF5-CA67A1F17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486400"/>
            <a:ext cx="108813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i="1">
                <a:solidFill>
                  <a:srgbClr val="52514E"/>
                </a:solidFill>
                <a:latin typeface="Calibri"/>
                <a:ea typeface="Calibri"/>
                <a:cs typeface="Calibri"/>
              </a:rPr>
              <a:t>Why keep the weaker signal? Without it 7 products in 10 show an empty panel — and people generalise from the first empty screen they see.</a:t>
            </a:r>
            <a:endParaRPr sz="1500"/>
          </a:p>
        </p:txBody>
      </p:sp>
    </p:spTree>
    <p:extLst>
      <p:ext uri="{BB962C8B-B14F-4D97-AF65-F5344CB8AC3E}">
        <p14:creationId xmlns:p14="http://schemas.microsoft.com/office/powerpoint/2010/main" val="174478488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1E276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ADA8BEB7-E24B-487A-B168-9510CEE93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640080"/>
            <a:ext cx="1088136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4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Three things it cannot do</a:t>
            </a:r>
            <a:endParaRPr sz="34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BB7E16BC-3DA6-4EA4-9F51-2088ED0CC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371600"/>
            <a:ext cx="108813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>
                <a:solidFill>
                  <a:srgbClr val="CADCFC"/>
                </a:solidFill>
                <a:latin typeface="Calibri"/>
                <a:ea typeface="Calibri"/>
                <a:cs typeface="Calibri"/>
              </a:rPr>
              <a:t>Said first and unprompted — the credibility of everything else depends on it</a:t>
            </a:r>
            <a:endParaRPr sz="15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57A2E6A0-2E93-489E-87FD-3698F3F14C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148840"/>
            <a:ext cx="384048" cy="38404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A78D6"/>
          </a:solidFill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7F711B81-306C-41BF-AA83-8E8DA11C9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148840"/>
            <a:ext cx="384048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  <a:endParaRPr sz="1500"/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05E97731-F0E9-446D-BD94-5CDBE0ED5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" y="2103120"/>
            <a:ext cx="1005840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It cannot tell you why</a:t>
            </a:r>
            <a:endParaRPr sz="200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A21DFC58-C5F3-458B-B532-CA451B242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" y="2542032"/>
            <a:ext cx="10058400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CADCFC"/>
                </a:solidFill>
                <a:latin typeface="Calibri"/>
                <a:ea typeface="Calibri"/>
                <a:cs typeface="Calibri"/>
              </a:rPr>
              <a:t>Bunting and paper plates co-occur because both are party purchases — not because one drives the other. Placing them together is sensible. Discounting one to lift the other is not.</a:t>
            </a:r>
            <a:endParaRPr sz="1400"/>
          </a:p>
        </p:txBody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57E2EB1E-7272-41B2-9BD5-1E5035003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566160"/>
            <a:ext cx="384048" cy="38404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A78D6"/>
          </a:solidFill>
        </p:spPr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72AFA91C-2E9E-4ABC-9EB8-6888A6506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566160"/>
            <a:ext cx="384048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  <a:endParaRPr sz="1500"/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FD7D155C-DBD4-4C2F-9A4B-F22BC6672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" y="3520440"/>
            <a:ext cx="1005840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It cannot see what you didn't stock</a:t>
            </a:r>
            <a:endParaRPr sz="2000"/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5AF5267B-C19A-49AA-BCF2-FB7B11C5C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" y="3959352"/>
            <a:ext cx="10058400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CADCFC"/>
                </a:solidFill>
                <a:latin typeface="Calibri"/>
                <a:ea typeface="Calibri"/>
                <a:cs typeface="Calibri"/>
              </a:rPr>
              <a:t>A product out of stock for six weeks builds its pairings from the weeks it was available. It will look less connected than it is.</a:t>
            </a:r>
            <a:endParaRPr sz="1400"/>
          </a:p>
        </p:txBody>
      </p:sp>
      <p:sp>
        <p:nvSpPr>
          <p:cNvPr id="12" name="Shape 10">
            <a:extLst xmlns:a="http://schemas.openxmlformats.org/drawingml/2006/main">
              <a:ext uri="{FF2B5EF4-FFF2-40B4-BE49-F238E27FC236}">
                <a16:creationId xmlns:a16="http://schemas.microsoft.com/office/drawing/2014/main" id="{89B3EFAF-A91F-43FF-B8EE-00F706324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983480"/>
            <a:ext cx="384048" cy="38404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A78D6"/>
          </a:solidFill>
        </p:spPr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51029591-8CE4-4CD1-8DCD-D3ABF71ED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983480"/>
            <a:ext cx="384048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  <a:endParaRPr sz="150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CC4ECB04-56DC-4167-8702-F274C928B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" y="4937760"/>
            <a:ext cx="1005840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It cannot decide anything</a:t>
            </a:r>
            <a:endParaRPr sz="2000"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B9AA2A60-EEA1-4C44-9258-F4E7E302E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" y="5376672"/>
            <a:ext cx="10058400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CADCFC"/>
                </a:solidFill>
                <a:latin typeface="Calibri"/>
                <a:ea typeface="Calibri"/>
                <a:cs typeface="Calibri"/>
              </a:rPr>
              <a:t>Nothing writes to a trading system. Every recommendation is a suggestion a person accepts or rejects. That is a design decision, not a limitation.</a:t>
            </a:r>
            <a:endParaRPr sz="1400"/>
          </a:p>
        </p:txBody>
      </p:sp>
    </p:spTree>
    <p:extLst>
      <p:ext uri="{BB962C8B-B14F-4D97-AF65-F5344CB8AC3E}">
        <p14:creationId xmlns:p14="http://schemas.microsoft.com/office/powerpoint/2010/main" val="207003436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A54969FC-EEEC-410D-B841-499DEEBC5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11480"/>
            <a:ext cx="1088136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400" b="1">
                <a:solidFill>
                  <a:srgbClr val="0B0B0B"/>
                </a:solidFill>
                <a:latin typeface="Cambria"/>
                <a:ea typeface="Cambria"/>
                <a:cs typeface="Cambria"/>
              </a:rPr>
              <a:t>How it's going, and one ask</a:t>
            </a:r>
            <a:endParaRPr sz="34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064F1390-CC7B-46FA-86F6-E60FB90C1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115568"/>
            <a:ext cx="108813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>
                <a:solidFill>
                  <a:srgbClr val="52514E"/>
                </a:solidFill>
                <a:latin typeface="Calibri"/>
                <a:ea typeface="Calibri"/>
                <a:cs typeface="Calibri"/>
              </a:rPr>
              <a:t>Simulated weekly reach — % of 62 fictional users active that week</a:t>
            </a:r>
            <a:endParaRPr sz="1500"/>
          </a:p>
        </p:txBody>
      </p:sp>
      <p:graphicFrame>
        <p:nvGraphicFramePr>
          <p:cNvPr id="12" name="Chart 0"/>
          <p:cNvGraphicFramePr/>
          <p:nvPr/>
        </p:nvGraphicFramePr>
        <p:xfrm>
          <a:off xmlns:a="http://schemas.openxmlformats.org/drawingml/2006/main" x="640080" y="1828800"/>
          <a:ext xmlns:a="http://schemas.openxmlformats.org/drawingml/2006/main" cx="6949440" cy="329184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b9f37836c97943b6"/>
          </a:graphicData>
        </a:graphic>
      </p:graphicFrame>
      <p:sp>
        <p:nvSpPr>
          <p:cNvPr id="5" name="Shape 2">
            <a:extLst xmlns:a="http://schemas.openxmlformats.org/drawingml/2006/main">
              <a:ext uri="{FF2B5EF4-FFF2-40B4-BE49-F238E27FC236}">
                <a16:creationId xmlns:a16="http://schemas.microsoft.com/office/drawing/2014/main" id="{E4A006C6-B453-45AB-B809-E88DE98E31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1828800"/>
            <a:ext cx="3291840" cy="3291840"/>
          </a:xfrm>
          <a:prstGeom xmlns:a="http://schemas.openxmlformats.org/drawingml/2006/main" prst="roundRect">
            <a:avLst>
              <a:gd name="adj" fmla="val 3333"/>
            </a:avLst>
          </a:prstGeom>
          <a:solidFill xmlns:a="http://schemas.openxmlformats.org/drawingml/2006/main">
            <a:srgbClr val="2C3A7A"/>
          </a:solidFill>
          <a:ln xmlns:a="http://schemas.openxmlformats.org/drawingml/2006/main" w="12700">
            <a:solidFill>
              <a:srgbClr val="2C3A7A"/>
            </a:solidFill>
            <a:prstDash val="solid"/>
          </a:ln>
        </p:spPr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1DC4D141-5883-49C2-A5EB-A673208AC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3920" y="2103120"/>
            <a:ext cx="274320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Weeks 3 and 8 are these workshops</a:t>
            </a:r>
            <a:endParaRPr sz="1600"/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BA0AB02F-C747-4A0A-88DF-ACC7C56E4D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3920" y="2743200"/>
            <a:ext cx="2743200" cy="21945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50">
                <a:solidFill>
                  <a:srgbClr val="CADCFC"/>
                </a:solidFill>
                <a:latin typeface="Calibri"/>
                <a:ea typeface="Calibri"/>
                <a:cs typeface="Calibri"/>
              </a:rPr>
              <a:t>16% → 34% after the first.</a:t>
            </a:r>
            <a:endParaRPr sz="1350"/>
          </a:p>
          <a:p xmlns:a="http://schemas.openxmlformats.org/drawingml/2006/main">
            <a:pPr marL="0" indent="0">
              <a:buNone/>
            </a:pPr>
            <a:r>
              <a:rPr sz="1350">
                <a:solidFill>
                  <a:srgbClr val="CADCFC"/>
                </a:solidFill>
                <a:latin typeface="Calibri"/>
                <a:ea typeface="Calibri"/>
                <a:cs typeface="Calibri"/>
              </a:rPr>
              <a:t>27% → 44% after the second.</a:t>
            </a:r>
            <a:endParaRPr sz="1350"/>
          </a:p>
          <a:p xmlns:a="http://schemas.openxmlformats.org/drawingml/2006/main">
            <a:pPr marL="0" indent="0">
              <a:buNone/>
            </a:pPr>
            <a:endParaRPr sz="1350"/>
          </a:p>
          <a:p xmlns:a="http://schemas.openxmlformats.org/drawingml/2006/main">
            <a:pPr marL="0" indent="0">
              <a:buNone/>
            </a:pPr>
            <a:r>
              <a:rPr sz="1350">
                <a:solidFill>
                  <a:srgbClr val="CADCFC"/>
                </a:solidFill>
                <a:latin typeface="Calibri"/>
                <a:ea typeface="Calibri"/>
                <a:cs typeface="Calibri"/>
              </a:rPr>
              <a:t>Both held rather than decaying — which is the part that matters. A spike that decays means people looked once.</a:t>
            </a:r>
            <a:endParaRPr sz="1350"/>
          </a:p>
        </p:txBody>
      </p:sp>
      <p:sp>
        <p:nvSpPr>
          <p:cNvPr id="8" name="Text 5">
            <a:extLst xmlns:a="http://schemas.openxmlformats.org/drawingml/2006/main">
              <a:ext uri="{FF2B5EF4-FFF2-40B4-BE49-F238E27FC236}">
                <a16:creationId xmlns:a16="http://schemas.microsoft.com/office/drawing/2014/main" id="{8D258156-63EF-451B-A400-207A6D870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394960"/>
            <a:ext cx="108813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 i="1">
                <a:solidFill>
                  <a:srgbClr val="52514E"/>
                </a:solidFill>
                <a:latin typeface="Calibri"/>
                <a:ea typeface="Calibri"/>
                <a:cs typeface="Calibri"/>
              </a:rPr>
              <a:t>One ask: use it once this week on a real decision, and tell us what happened. The feedback button is two clicks.</a:t>
            </a:r>
            <a:endParaRPr sz="1600"/>
          </a:p>
        </p:txBody>
      </p:sp>
    </p:spTree>
    <p:extLst>
      <p:ext uri="{BB962C8B-B14F-4D97-AF65-F5344CB8AC3E}">
        <p14:creationId xmlns:p14="http://schemas.microsoft.com/office/powerpoint/2010/main" val="958959524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2026-09-04T00:47:46.9820000Z</dcterms:created>
  <dcterms:modified xsi:type="dcterms:W3CDTF">2026-09-04T00:47:46.9820000Z</dcterms:modified>
</coreProperties>
</file>