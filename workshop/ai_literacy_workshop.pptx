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Reach</c:v>
                </c:pt>
              </c:strCache>
            </c:strRef>
          </c:tx>
          <c:spPr>
            <a:solidFill>
              <a:srgbClr val="2A78D6"/>
            </a:solidFill>
            <a:ln w="38100" cap="flat">
              <a:solidFill>
                <a:srgbClr val="2A78D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2A78D6"/>
              </a:solidFill>
              <a:ln w="9525" cap="flat">
                <a:solidFill>
                  <a:srgbClr val="2A78D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W1</c:v>
                  </c:pt>
                  <c:pt idx="1">
                    <c:v>W2</c:v>
                  </c:pt>
                  <c:pt idx="2">
                    <c:v>W3</c:v>
                  </c:pt>
                  <c:pt idx="3">
                    <c:v>W4</c:v>
                  </c:pt>
                  <c:pt idx="4">
                    <c:v>W5</c:v>
                  </c:pt>
                  <c:pt idx="5">
                    <c:v>W6</c:v>
                  </c:pt>
                  <c:pt idx="6">
                    <c:v>W7</c:v>
                  </c:pt>
                  <c:pt idx="7">
                    <c:v>W8</c:v>
                  </c:pt>
                  <c:pt idx="8">
                    <c:v>W9</c:v>
                  </c:pt>
                  <c:pt idx="9">
                    <c:v>W10</c:v>
                  </c:pt>
                  <c:pt idx="10">
                    <c:v>W11</c:v>
                  </c:pt>
                  <c:pt idx="11">
                    <c:v>W12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8.1</c:v>
                </c:pt>
                <c:pt idx="1">
                  <c:v>16.1</c:v>
                </c:pt>
                <c:pt idx="2">
                  <c:v>33.9</c:v>
                </c:pt>
                <c:pt idx="3">
                  <c:v>25.8</c:v>
                </c:pt>
                <c:pt idx="4">
                  <c:v>22.6</c:v>
                </c:pt>
                <c:pt idx="5">
                  <c:v>30.6</c:v>
                </c:pt>
                <c:pt idx="6">
                  <c:v>27.4</c:v>
                </c:pt>
                <c:pt idx="7">
                  <c:v>43.5</c:v>
                </c:pt>
                <c:pt idx="8">
                  <c:v>37.1</c:v>
                </c:pt>
                <c:pt idx="9">
                  <c:v>45.2</c:v>
                </c:pt>
                <c:pt idx="10">
                  <c:v>45.2</c:v>
                </c:pt>
                <c:pt idx="11">
                  <c:v>41.9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898781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0"/>
          <c:min val="0"/>
        </c:scaling>
        <c:delete val="0"/>
        <c:axPos val="l"/>
        <c:majorGridlines>
          <c:spPr>
            <a:ln w="12700" cap="flat">
              <a:solidFill>
                <a:srgbClr val="E1E0D9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898781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 not open with a demo - open with the failure on slide 2. It answers the question the room is actually holding ('is this going to embarrass me?') in the first five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directly: would you have shipped this? Let them react. Do not resolve it - the resolution is slide 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payoff for slide 2. Say it slowly.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ask, not on the chart. Note that we report the dips too - a chart with no dips is a chart nobody believes.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01168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Frequently Bought Together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640080" y="2880360"/>
            <a:ext cx="10241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i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...and the three things it can't do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3977640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 minutes  ·  no prerequisites  ·  you will not be asked to write any code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5943600"/>
            <a:ext cx="10241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BA9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Engineering  ·  business engagement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Would you have shipped this?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115568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real row from the live tool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6949440" cy="2743200"/>
          </a:xfrm>
          <a:prstGeom prst="roundRect">
            <a:avLst>
              <a:gd name="adj" fmla="val 4000"/>
            </a:avLst>
          </a:prstGeom>
          <a:solidFill>
            <a:srgbClr val="F1F5FC"/>
          </a:solidFill>
          <a:ln w="12700">
            <a:solidFill>
              <a:srgbClr val="E3E8F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" y="2148840"/>
            <a:ext cx="6217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SEASONAL BEST-SELLER  →  ALMOST EVERYTHING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1005840" y="2880360"/>
            <a:ext cx="6217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Confidence 0.44</a:t>
            </a:r>
            <a:pPr indent="0" marL="0">
              <a:buNone/>
            </a:pPr>
            <a:r>
              <a:rPr lang="en-US" sz="15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 looks convincing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005840" y="3337560"/>
            <a:ext cx="6217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03B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Lift 1.1</a:t>
            </a:r>
            <a:pPr indent="0" marL="0">
              <a:buNone/>
            </a:pPr>
            <a:r>
              <a:rPr lang="en-US" sz="15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 no more likely than chance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05840" y="3794760"/>
            <a:ext cx="6217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410 baskets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8229600" y="1828800"/>
            <a:ext cx="3291840" cy="2743200"/>
          </a:xfrm>
          <a:prstGeom prst="roundRect">
            <a:avLst>
              <a:gd name="adj" fmla="val 4000"/>
            </a:avLst>
          </a:prstGeom>
          <a:solidFill>
            <a:srgbClr val="2C3A7A"/>
          </a:solidFill>
          <a:ln w="12700">
            <a:solidFill>
              <a:srgbClr val="2C3A7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503920" y="21031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Hold that thought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8503920" y="2606040"/>
            <a:ext cx="2743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number here is real.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0:30 you'll be able to say in one sentence why this row is worthless.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40080" y="493776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Confidence is the number people read. Lift is the number that decides.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a recommendation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115568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real row, one number at a time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10881360" cy="868680"/>
          </a:xfrm>
          <a:prstGeom prst="roundRect">
            <a:avLst>
              <a:gd name="adj" fmla="val 12632"/>
            </a:avLst>
          </a:prstGeom>
          <a:solidFill>
            <a:srgbClr val="F1F5FC"/>
          </a:solidFill>
          <a:ln w="12700">
            <a:solidFill>
              <a:srgbClr val="E3E8F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" y="1783080"/>
            <a:ext cx="10149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CHILDS GARDEN SPADE PINK</a:t>
            </a:r>
            <a:pPr indent="0" marL="0">
              <a:buNone/>
            </a:pPr>
            <a:r>
              <a:rPr lang="en-US" sz="180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→     </a:t>
            </a:r>
            <a:pPr indent="0" marL="0">
              <a:buNone/>
            </a:pPr>
            <a:r>
              <a:rPr lang="en-US" sz="18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CHILDS GARDEN SPADE BLUE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2926080"/>
            <a:ext cx="3429000" cy="2286000"/>
          </a:xfrm>
          <a:prstGeom prst="roundRect">
            <a:avLst>
              <a:gd name="adj" fmla="val 4800"/>
            </a:avLst>
          </a:prstGeom>
          <a:solidFill>
            <a:srgbClr val="F1F5FC"/>
          </a:solidFill>
          <a:ln w="12700">
            <a:solidFill>
              <a:srgbClr val="E3E8F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60120" y="3108960"/>
            <a:ext cx="2788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960120" y="3886200"/>
            <a:ext cx="2788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baskets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960120" y="4251960"/>
            <a:ext cx="2788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sample size. Read this first — a huge lift on 8 baskets is noise.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343400" y="2926080"/>
            <a:ext cx="3429000" cy="2286000"/>
          </a:xfrm>
          <a:prstGeom prst="roundRect">
            <a:avLst>
              <a:gd name="adj" fmla="val 4800"/>
            </a:avLst>
          </a:prstGeom>
          <a:solidFill>
            <a:srgbClr val="F1F5FC"/>
          </a:solidFill>
          <a:ln w="12700">
            <a:solidFill>
              <a:srgbClr val="E3E8F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63440" y="3108960"/>
            <a:ext cx="2788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0.66</a:t>
            </a:r>
            <a:endParaRPr lang="en-US" sz="4600" dirty="0"/>
          </a:p>
        </p:txBody>
      </p:sp>
      <p:sp>
        <p:nvSpPr>
          <p:cNvPr id="12" name="Text 10"/>
          <p:cNvSpPr/>
          <p:nvPr/>
        </p:nvSpPr>
        <p:spPr>
          <a:xfrm>
            <a:off x="4663440" y="3886200"/>
            <a:ext cx="2788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confidence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663440" y="4251960"/>
            <a:ext cx="2788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baskets with the pink spade, 66% also had the blue one.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046720" y="2926080"/>
            <a:ext cx="3429000" cy="2286000"/>
          </a:xfrm>
          <a:prstGeom prst="roundRect">
            <a:avLst>
              <a:gd name="adj" fmla="val 4800"/>
            </a:avLst>
          </a:prstGeom>
          <a:solidFill>
            <a:srgbClr val="F1F5FC"/>
          </a:solidFill>
          <a:ln w="12700">
            <a:solidFill>
              <a:srgbClr val="E3E8F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366760" y="3108960"/>
            <a:ext cx="2788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0CA3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234</a:t>
            </a:r>
            <a:endParaRPr lang="en-US" sz="4600" dirty="0"/>
          </a:p>
        </p:txBody>
      </p:sp>
      <p:sp>
        <p:nvSpPr>
          <p:cNvPr id="16" name="Text 14"/>
          <p:cNvSpPr/>
          <p:nvPr/>
        </p:nvSpPr>
        <p:spPr>
          <a:xfrm>
            <a:off x="8366760" y="3886200"/>
            <a:ext cx="2788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lift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8366760" y="4251960"/>
            <a:ext cx="2788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234× more likely than chance. This is the ranking column.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40080" y="553212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 to the bad row: confidence 0.44, lift 1.1. Lift near 1 means "chance". That's the whole answer.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signals — and they are not equal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115568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the method column before you build a plan on a row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5303520" cy="3200400"/>
          </a:xfrm>
          <a:prstGeom prst="roundRect">
            <a:avLst>
              <a:gd name="adj" fmla="val 3429"/>
            </a:avLst>
          </a:prstGeom>
          <a:solidFill>
            <a:srgbClr val="F1F5FC"/>
          </a:solidFill>
          <a:ln w="12700">
            <a:solidFill>
              <a:srgbClr val="E3E8F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05840" y="2240280"/>
            <a:ext cx="384048" cy="384048"/>
          </a:xfrm>
          <a:prstGeom prst="ellipse">
            <a:avLst/>
          </a:prstGeom>
          <a:solidFill>
            <a:srgbClr val="0CA30C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2402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554480" y="224028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co_purchase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005840" y="2880360"/>
            <a:ext cx="4572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from what people actually bought together.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real signal — trust it in proportion to the basket count.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Covers about 30% of the catalogue.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583680" y="1920240"/>
            <a:ext cx="4937760" cy="3200400"/>
          </a:xfrm>
          <a:prstGeom prst="roundRect">
            <a:avLst>
              <a:gd name="adj" fmla="val 3429"/>
            </a:avLst>
          </a:prstGeom>
          <a:solidFill>
            <a:srgbClr val="F1F5FC"/>
          </a:solidFill>
          <a:ln w="12700">
            <a:solidFill>
              <a:srgbClr val="E3E8F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949440" y="2240280"/>
            <a:ext cx="384048" cy="384048"/>
          </a:xfrm>
          <a:prstGeom prst="ellipse">
            <a:avLst/>
          </a:prstGeom>
          <a:solidFill>
            <a:srgbClr val="D03B3B"/>
          </a:solidFill>
          <a:ln/>
        </p:spPr>
      </p:sp>
      <p:sp>
        <p:nvSpPr>
          <p:cNvPr id="11" name="Text 9"/>
          <p:cNvSpPr/>
          <p:nvPr/>
        </p:nvSpPr>
        <p:spPr>
          <a:xfrm>
            <a:off x="6949440" y="22402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7498080" y="224028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content_tfidf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949440" y="2880360"/>
            <a:ext cx="42062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from the product description text.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Nobody has been observed buying these together — they simply read alike.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starting point, never evidence.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40080" y="548640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keep the weaker signal? Without it 7 products in 10 show an empty panel — and people generalise from the first empty screen they see.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things it cannot do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37160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Said first and unprompted — the credibility of everything else depends on it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2148840"/>
            <a:ext cx="384048" cy="384048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148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280160" y="210312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cannot tell you why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280160" y="2542032"/>
            <a:ext cx="10058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Bunting and paper plates co-occur because both are party purchases — not because one drives the other. Placing them together is sensible. Discounting one to lift the other is not.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40080" y="3566160"/>
            <a:ext cx="384048" cy="384048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280160" y="352044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cannot see what you didn't stock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280160" y="3959352"/>
            <a:ext cx="10058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product out of stock for six weeks builds its pairings from the weeks it was available. It will look less connected than it is.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4983480"/>
            <a:ext cx="384048" cy="384048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280160" y="493776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cannot decide anything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1280160" y="5376672"/>
            <a:ext cx="10058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writes to a trading system. Every recommendation is a suggestion a person accepts or rejects. That is a design decision, not a limitation.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it's going, and one ask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115568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reach — % of the 62 licensed users active that week</a:t>
            </a:r>
            <a:endParaRPr lang="en-US" sz="15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640080" y="1828800"/>
          <a:ext cx="694944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8229600" y="1828800"/>
            <a:ext cx="3291840" cy="3291840"/>
          </a:xfrm>
          <a:prstGeom prst="roundRect">
            <a:avLst>
              <a:gd name="adj" fmla="val 3333"/>
            </a:avLst>
          </a:prstGeom>
          <a:solidFill>
            <a:srgbClr val="2C3A7A"/>
          </a:solidFill>
          <a:ln w="12700">
            <a:solidFill>
              <a:srgbClr val="2C3A7A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8503920" y="210312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Weeks 3 and 8 are these workshops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8503920" y="2743200"/>
            <a:ext cx="27432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16% → 34% after the first.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27% → 44% after the second.</a:t>
            </a:r>
            <a:endParaRPr lang="en-US" sz="1350" dirty="0"/>
          </a:p>
          <a:p>
            <a:pPr indent="0" marL="0">
              <a:buNone/>
            </a:pP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held rather than decaying — which is the part that matters. A spike that decays means people looked once.</a:t>
            </a:r>
            <a:endParaRPr lang="en-US" sz="1350" dirty="0"/>
          </a:p>
        </p:txBody>
      </p:sp>
      <p:sp>
        <p:nvSpPr>
          <p:cNvPr id="8" name="Text 5"/>
          <p:cNvSpPr/>
          <p:nvPr/>
        </p:nvSpPr>
        <p:spPr>
          <a:xfrm>
            <a:off x="640080" y="539496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ask: use it once this week on a real decision, and tell us what happened. The feedback button is two clicks.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Frequently Bought Together - AI literacy workshop</dc:title>
  <dc:subject>PptxGenJS Presentation</dc:subject>
  <dc:creator>PptxGenJS</dc:creator>
  <cp:lastModifiedBy>PptxGenJS</cp:lastModifiedBy>
  <cp:revision>1</cp:revision>
  <dcterms:created xsi:type="dcterms:W3CDTF">2026-08-02T23:11:38Z</dcterms:created>
  <dcterms:modified xsi:type="dcterms:W3CDTF">2026-08-02T23:11:38Z</dcterms:modified>
</cp:coreProperties>
</file>