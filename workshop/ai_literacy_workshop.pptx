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20e3e2c922604c4d" Type="http://schemas.openxmlformats.org/officeDocument/2006/relationships/extended-properties" Target="docProps/app.xml"/><Relationship Id="R5b825a7b69c34b85" Type="http://schemas.openxmlformats.org/package/2006/relationships/metadata/core-properties" Target="docProps/core.xml"/><Relationship Id="Rb56a7d80f3ac4b65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4ee57311b64422"/>
  </p:sldMasterIdLst>
  <p:notesMasterIdLst>
    <p:notesMasterId xmlns:r="http://schemas.openxmlformats.org/officeDocument/2006/relationships" r:id="R13aa80b6e5754721"/>
  </p:notesMasterIdLst>
  <p:sldIdLst>
    <p:sldId xmlns:r="http://schemas.openxmlformats.org/officeDocument/2006/relationships" id="256" r:id="Ra9502591750b4f89"/>
    <p:sldId xmlns:r="http://schemas.openxmlformats.org/officeDocument/2006/relationships" id="257" r:id="Rfe4b8661c5c74a64"/>
    <p:sldId xmlns:r="http://schemas.openxmlformats.org/officeDocument/2006/relationships" id="258" r:id="R1baf9e56ecab459c"/>
    <p:sldId xmlns:r="http://schemas.openxmlformats.org/officeDocument/2006/relationships" id="259" r:id="Rd6026a980488428a"/>
    <p:sldId xmlns:r="http://schemas.openxmlformats.org/officeDocument/2006/relationships" id="260" r:id="Rbdc4c45ecbde4cfb"/>
    <p:sldId xmlns:r="http://schemas.openxmlformats.org/officeDocument/2006/relationships" id="261" r:id="Rb64b4399cd184e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ebd834b0e8346b7" Type="http://schemas.openxmlformats.org/officeDocument/2006/relationships/theme" Target="theme/theme1.xml"/><Relationship Id="R13aa80b6e5754721" Type="http://schemas.openxmlformats.org/officeDocument/2006/relationships/notesMaster" Target="notesMasters/notesMaster1.xml"/><Relationship Id="R1baf9e56ecab459c" Type="http://schemas.openxmlformats.org/officeDocument/2006/relationships/slide" Target="slides/slide3.xml"/><Relationship Id="R52b21ca27cdc4a37" Type="http://schemas.openxmlformats.org/officeDocument/2006/relationships/presProps" Target="presProps.xml"/><Relationship Id="Ra9502591750b4f89" Type="http://schemas.openxmlformats.org/officeDocument/2006/relationships/slide" Target="slides/slide1.xml"/><Relationship Id="Rb64b4399cd184ef2" Type="http://schemas.openxmlformats.org/officeDocument/2006/relationships/slide" Target="slides/slide6.xml"/><Relationship Id="Rbdc4c45ecbde4cfb" Type="http://schemas.openxmlformats.org/officeDocument/2006/relationships/slide" Target="slides/slide5.xml"/><Relationship Id="Rd6026a980488428a" Type="http://schemas.openxmlformats.org/officeDocument/2006/relationships/slide" Target="slides/slide4.xml"/><Relationship Id="Re04ee57311b64422" Type="http://schemas.openxmlformats.org/officeDocument/2006/relationships/slideMaster" Target="slideMasters/slideMaster1.xml"/><Relationship Id="Re53bc03a71834029" Type="http://schemas.openxmlformats.org/officeDocument/2006/relationships/viewProps" Target="viewProps.xml"/><Relationship Id="Rf77c342babe643a5" Type="http://schemas.openxmlformats.org/officeDocument/2006/relationships/tableStyles" Target="tableStyles.xml"/><Relationship Id="Rfe4b8661c5c74a64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df0698357369470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e579fd771f514371" Type="http://schemas.openxmlformats.org/officeDocument/2006/relationships/slide" Target="../slides/slide1.xml"/><Relationship Id="Reaf1c8279732456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1b41fe78b3a41d4" Type="http://schemas.openxmlformats.org/officeDocument/2006/relationships/notesMaster" Target="../notesMasters/notesMaster1.xml"/><Relationship Id="Ra2b4eb36a1294cad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451e85fe5314521" Type="http://schemas.openxmlformats.org/officeDocument/2006/relationships/notesMaster" Target="../notesMasters/notesMaster1.xml"/><Relationship Id="Rbb3a4260a0d04ced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3bc91ffd11f4155" Type="http://schemas.openxmlformats.org/officeDocument/2006/relationships/slide" Target="../slides/slide4.xml"/><Relationship Id="Rf61cd30c01194e15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6c116727df248a4" Type="http://schemas.openxmlformats.org/officeDocument/2006/relationships/slide" Target="../slides/slide5.xml"/><Relationship Id="Rbd16bded5bee4c9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fc60cfc43ef45c2" Type="http://schemas.openxmlformats.org/officeDocument/2006/relationships/slide" Target="../slides/slide6.xml"/><Relationship Id="Rf90ca355a57a4ba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open with a demo - open with the failure on slide 2. It answers the question the room is actually holding ('is this going to embarrass me?') in the first five minutes.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directly: would you have shipped this? Let them react. Do not resolve it - the resolution is slide 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payoff for slide 2. Say it slowly.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ask, not on the chart. Note that we report the dips too - a chart with no dips is a chart nobody believes.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932936c639a48df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8db996b195a4ade" Type="http://schemas.openxmlformats.org/officeDocument/2006/relationships/theme" Target="theme/theme2.xml"/><Relationship Id="R791b8e2a74364d7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1b8e2a74364d7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3b692bd7fdd4c83" Type="http://schemas.openxmlformats.org/officeDocument/2006/relationships/slideLayout" Target="../slideLayouts/slideLayout1.xml"/><Relationship Id="Rf4e30152e5e0400e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40a922e7a36a4548" Type="http://schemas.openxmlformats.org/officeDocument/2006/relationships/slideLayout" Target="../slideLayouts/slideLayout1.xml"/><Relationship Id="Rcfdf441ded624c8f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d2edf9c071e449f" Type="http://schemas.openxmlformats.org/officeDocument/2006/relationships/slideLayout" Target="../slideLayouts/slideLayout1.xml"/><Relationship Id="Rc2640a74441b404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1eb4e805b754cd6" Type="http://schemas.openxmlformats.org/officeDocument/2006/relationships/slideLayout" Target="../slideLayouts/slideLayout1.xml"/><Relationship Id="Rf4dd44cbef834fa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bb45c83424924054" Type="http://schemas.openxmlformats.org/officeDocument/2006/relationships/slideLayout" Target="../slideLayouts/slideLayout1.xml"/><Relationship Id="Rec944224ba9346e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ebf423957fa4d00" Type="http://schemas.openxmlformats.org/officeDocument/2006/relationships/notesSlide" Target="../notesSlides/notesSlide6.xml"/><Relationship Id="Rb9f37836c97943b6" Type="http://schemas.openxmlformats.org/officeDocument/2006/relationships/chart" Target="charts/chart1.xml"/><Relationship Id="Rd7507b0bf6c7423b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chart1.xml><?xml version="1.0" encoding="utf-8"?>
<c:chartSpace xmlns:c="http://schemas.openxmlformats.org/drawingml/2006/chart">
  <c:lang val="en-US"/>
  <c:roundedCorners val="1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 xmlns:a="http://schemas.openxmlformats.org/drawingml/2006/main">
              <a:srgbClr val="2A78D6"/>
            </a:solidFill>
            <a:ln xmlns:a="http://schemas.openxmlformats.org/drawingml/2006/main" w="38100">
              <a:solidFill>
                <a:srgbClr val="2A78D6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2A78D6"/>
              </a:solidFill>
              <a:ln xmlns:a="http://schemas.openxmlformats.org/drawingml/2006/main" w="9525">
                <a:solidFill>
                  <a:srgbClr val="2A78D6"/>
                </a:solidFill>
                <a:prstDash val="solid"/>
              </a:ln>
            </c:spPr>
          </c:marker>
          <c:dLbls>
            <c:numFmt formatCode="#,##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8.1</c:v>
                </c:pt>
                <c:pt idx="1">
                  <c:v>16.1</c:v>
                </c:pt>
                <c:pt idx="2">
                  <c:v>33.9</c:v>
                </c:pt>
                <c:pt idx="3">
                  <c:v>25.8</c:v>
                </c:pt>
                <c:pt idx="4">
                  <c:v>22.6</c:v>
                </c:pt>
                <c:pt idx="5">
                  <c:v>30.6</c:v>
                </c:pt>
                <c:pt idx="6">
                  <c:v>27.4</c:v>
                </c:pt>
                <c:pt idx="7">
                  <c:v>43.5</c:v>
                </c:pt>
                <c:pt idx="8">
                  <c:v>37.1</c:v>
                </c:pt>
                <c:pt idx="9">
                  <c:v>45.2</c:v>
                </c:pt>
                <c:pt idx="10">
                  <c:v>45.2</c:v>
                </c:pt>
                <c:pt idx="11">
                  <c:v>41.9</c:v>
                </c:pt>
              </c:numCache>
            </c:numRef>
          </c:val>
          <c:smooth val="0"/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2"/>
        <c:crosses val="autoZero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12700">
              <a:solidFill>
                <a:srgbClr val="E1E0D9"/>
              </a:solidFill>
              <a:prstDash val="solid"/>
            </a:ln>
          </c:spPr>
        </c:majorGridlines>
        <c:numFmt formatCode="General" sourceLinked="0"/>
        <c:majorTickMark val="out"/>
        <c:minorTickMark val="none"/>
        <c:tickLblPos val="nextTo"/>
        <c:spPr>
          <a:ln xmlns:a="http://schemas.openxmlformats.org/drawingml/2006/main" w="12700">
            <a:solidFill>
              <a:srgbClr val="88888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00" b="0" i="0" u="none">
                <a:solidFill>
                  <a:srgbClr val="898781"/>
                </a:solidFill>
                <a:latin typeface="Calibri"/>
                <a:ea typeface="Calibri"/>
                <a:cs typeface="Calibri"/>
              </a:defRPr>
            </a:pPr>
          </a:p>
        </c:txPr>
        <c:crossAx val="2094734554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xmlns:ns0="http://schemas.openxmlformats.org/officeDocument/2006/relationships" ns0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E1BAC5D-4D27-463F-9BD7-8E86A2C2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02412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Frequently Bought Together</a:t>
            </a:r>
            <a:endParaRPr sz="4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179329-A2B4-4E90-9ABF-16A49006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0241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i="1">
                <a:solidFill>
                  <a:srgbClr val="CADCFC"/>
                </a:solidFill>
                <a:latin typeface="Cambria"/>
                <a:ea typeface="Cambria"/>
                <a:cs typeface="Cambria"/>
              </a:rPr>
              <a:t>...and the three things it can't do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430BA1-258A-4AD8-97AE-8CCB9406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241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60 minutes  ·  illustrative portfolio scenario  ·  simulated telemetry  ·  nothing deployed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2FC87D-E829-4642-8D28-FFB82611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9BA9D6"/>
                </a:solidFill>
                <a:latin typeface="Calibri"/>
                <a:ea typeface="Calibri"/>
                <a:cs typeface="Calibri"/>
              </a:rPr>
              <a:t>AI Engineering  ·  business engagement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44462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544E0A-B3F6-4B95-9089-F354D657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0B0B"/>
                </a:solidFill>
                <a:latin typeface="Cambria"/>
                <a:ea typeface="Cambria"/>
                <a:cs typeface="Cambria"/>
              </a:rPr>
              <a:t>Would you have shipped this?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839C22-7D98-4C83-A1F8-A0E74FF5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A recommendation from the live table, computed from the retail dataset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4B00C6-74EC-4916-AF78-067F2903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694944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A69261D-74C5-45EB-9D75-B39AE3CB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4884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WHITE METAL LANTERN  →  WHITE HANGING HEART T-LIGHT HOLDER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9594B3-0AA4-4C1D-90EC-68F29844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26080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63 baskets, confidence 0.19, lift 1.65</a:t>
            </a: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   —   looks like a finding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CF892E-805D-4133-97C6-27D2C71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8328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...until you notice</a:t>
            </a:r>
            <a:r>
              <a:rPr sz="1500" b="1">
                <a:solidFill>
                  <a:srgbClr val="D03B3B"/>
                </a:solidFill>
                <a:latin typeface="Calibri"/>
                <a:ea typeface="Calibri"/>
                <a:cs typeface="Calibri"/>
              </a:rPr>
              <a:t> the same t-light holder is recommended for 79 products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1510531-A1B3-4D37-9DC1-BD8040F3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69080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It is in a large share of every basket, so it pairs with everything.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8D8CFA6-50F1-4365-AD9D-82C312E5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29184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C3A7A"/>
          </a:solidFill>
          <a:ln xmlns:a="http://schemas.openxmlformats.org/drawingml/2006/main" w="12700">
            <a:solidFill>
              <a:srgbClr val="2C3A7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EA122D1-8DC8-4DDD-ABF9-25345F9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031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Hold that thought</a:t>
            </a:r>
            <a:endParaRPr sz="1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01144F0-CBC0-4621-B34B-BFB45302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606040"/>
            <a:ext cx="2743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Every number here is from the live table.</a:t>
            </a:r>
            <a:endParaRPr sz="1400"/>
          </a:p>
          <a:p xmlns:a="http://schemas.openxmlformats.org/drawingml/2006/main">
            <a:pPr marL="0" indent="0">
              <a:buNone/>
            </a:pPr>
            <a:endParaRPr sz="1400"/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By 0:30 you'll be able to say in one sentence why this row is weak.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19EA4FB-C7B9-4556-8D75-EC4FB452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3776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Popularity is not affinity. Always ask what else that product is recommended for.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6403262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CD2268-6C1B-45C7-BF74-C3C6B670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0B0B"/>
                </a:solidFill>
                <a:latin typeface="Cambria"/>
                <a:ea typeface="Cambria"/>
                <a:cs typeface="Cambria"/>
              </a:rPr>
              <a:t>Reading a recommendation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D8DEA0-5155-43DE-B729-53F31287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One real row, one number at a time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C16DAF-3F28-40DF-A79B-A6328308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10881360" cy="868680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679D704-A4B7-4BE3-99FE-F4483E43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014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CHILDS GARDEN SPADE PINK</a:t>
            </a:r>
            <a:r>
              <a:rPr sz="1800">
                <a:solidFill>
                  <a:srgbClr val="898781"/>
                </a:solidFill>
                <a:latin typeface="Calibri"/>
                <a:ea typeface="Calibri"/>
                <a:cs typeface="Calibri"/>
              </a:rPr>
              <a:t>     →     </a:t>
            </a:r>
            <a:r>
              <a:rPr sz="18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CHILDS GARDEN SPADE BLUE</a:t>
            </a:r>
            <a:endParaRPr sz="18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CB3092-741A-442A-8947-45C78E9F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42900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E5744BC-AA58-461F-89F2-D6C1519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08960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2A78D6"/>
                </a:solidFill>
                <a:latin typeface="Calibri"/>
                <a:ea typeface="Calibri"/>
                <a:cs typeface="Calibri"/>
              </a:rPr>
              <a:t>40</a:t>
            </a:r>
            <a:endParaRPr sz="4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EFA0B62-964C-4C37-8D34-0F74967E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86200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98781"/>
                </a:solidFill>
                <a:latin typeface="Calibri"/>
                <a:ea typeface="Calibri"/>
                <a:cs typeface="Calibri"/>
              </a:rPr>
              <a:t>baskets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A78C074-BD8B-42DE-BF79-A5275B7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2788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Your sample size. Read this first — a huge lift on 8 baskets is noise.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6463EC6-E2D0-4F1F-94D8-87DA7755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26080"/>
            <a:ext cx="342900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E392EEF-9224-4D35-AE55-5ECC724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08960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2A78D6"/>
                </a:solidFill>
                <a:latin typeface="Calibri"/>
                <a:ea typeface="Calibri"/>
                <a:cs typeface="Calibri"/>
              </a:rPr>
              <a:t>0.48</a:t>
            </a:r>
            <a:endParaRPr sz="4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1FED98-0E95-4028-9A46-BF3D3ED4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886200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98781"/>
                </a:solidFill>
                <a:latin typeface="Calibri"/>
                <a:ea typeface="Calibri"/>
                <a:cs typeface="Calibri"/>
              </a:rPr>
              <a:t>confidence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5F0F492-FAC1-4EED-8231-F2D94202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51960"/>
            <a:ext cx="2788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Of baskets with the pink spade, 48% also had the blue one.</a:t>
            </a:r>
            <a:endParaRPr sz="13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5495D55-BE76-4155-8527-652B15C9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3429000" cy="2286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44A2E0-7119-4546-9A55-D8C4E5C8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108960"/>
            <a:ext cx="2788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0CA30C"/>
                </a:solidFill>
                <a:latin typeface="Calibri"/>
                <a:ea typeface="Calibri"/>
                <a:cs typeface="Calibri"/>
              </a:rPr>
              <a:t>95</a:t>
            </a:r>
            <a:endParaRPr sz="46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A7C15D-F624-475D-BE3B-5AE7D061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886200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898781"/>
                </a:solidFill>
                <a:latin typeface="Calibri"/>
                <a:ea typeface="Calibri"/>
                <a:cs typeface="Calibri"/>
              </a:rPr>
              <a:t>lift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60AE298-827C-4BD9-BA7D-5AA475C4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251960"/>
            <a:ext cx="27889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95× the independent-purchase expectation. This is the ranking column.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073FB-A5BE-4FF6-BEFE-EB3F57B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3212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Back to the first row: lift 1.65 against 95 here. Same catalogue, different strengths of association.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1132352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DB0486-6749-42D8-A4FD-F1FAF81F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0B0B"/>
                </a:solidFill>
                <a:latin typeface="Cambria"/>
                <a:ea typeface="Cambria"/>
                <a:cs typeface="Cambria"/>
              </a:rPr>
              <a:t>Two signals — and they are not equal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387DB0-8434-4712-89C5-76957930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Check the method column before you build a plan on a row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2155E4-867C-4FA3-9082-7E98298B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530352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6BFF8A-D4C8-4036-8DE1-DECF5E66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A30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0E1C21B-E4E4-4AA9-A2B3-5DD3EF2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123CE48-516F-4741-8F61-3787A80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240280"/>
            <a:ext cx="4023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co_purchase</a:t>
            </a:r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24707-6D1C-440C-97A2-5DB9FB2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80360"/>
            <a:ext cx="457200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Built from what people actually bought together.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The real signal — trust it in proportion to the basket count.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Covers about 30% of the catalogue.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4951942-D1B6-4921-9727-38423DE9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20240"/>
            <a:ext cx="4937760" cy="320040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1F5FC"/>
          </a:solidFill>
          <a:ln xmlns:a="http://schemas.openxmlformats.org/drawingml/2006/main" w="12700">
            <a:solidFill>
              <a:srgbClr val="E3E8F2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A0A533-57A8-4E3C-BBDA-14D40EB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402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3B3B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0879D0-D8B7-4CFE-B1A1-42C456D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2402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sz="1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767D39-DB92-405B-90F3-A20786B7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240280"/>
            <a:ext cx="3657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B0B0B"/>
                </a:solidFill>
                <a:latin typeface="Calibri"/>
                <a:ea typeface="Calibri"/>
                <a:cs typeface="Calibri"/>
              </a:rPr>
              <a:t>content_tfidf</a:t>
            </a:r>
            <a:endParaRPr sz="2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0641FC-769C-4B01-B0E4-D7FDFC91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80360"/>
            <a:ext cx="420624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Built from the product description text.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Nobody has been observed buying these together — they simply read alike.</a:t>
            </a:r>
            <a:endParaRPr sz="1500"/>
          </a:p>
          <a:p xmlns:a="http://schemas.openxmlformats.org/drawingml/2006/main">
            <a:pPr marL="0" indent="0">
              <a:buNone/>
            </a:pPr>
            <a:endParaRPr sz="1500"/>
          </a:p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A starting point, never evidence.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F2BAEAA-CD80-4521-BEF5-CA67A1F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Why keep the weaker signal? Without it 7 products in 10 show an empty panel — and people generalise from the first empty screen they see.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44784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8BEB7-E24B-487A-B168-9510CEE9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Three things it cannot do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B7E16BC-3DA6-4EA4-9F51-2088ED0C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Said first and unprompted — the credibility of everything else depends on it</a:t>
            </a:r>
            <a:endParaRPr sz="1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7A2E6A0-2E93-489E-87FD-3698F3F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8D6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F711B81-306C-41BF-AA83-8E8DA11C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5E97731-F0E9-446D-BD94-5CDBE0E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03120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cannot tell you why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1DFC58-C5F3-458B-B532-CA451B24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542032"/>
            <a:ext cx="10058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Bunting and paper plates co-occur because both are party purchases — not because one drives the other. Placing them together is sensible. Discounting one to lift the other is not.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7E2EB1E-7272-41B2-9BD5-1E503500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8D6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AFA91C-2E9E-4ABC-9EB8-6888A650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D7D155C-DBD4-4C2F-9A4B-F22BC667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20440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cannot see what you didn't stock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AF5267B-C19A-49AA-BCF2-FB7B11C5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59352"/>
            <a:ext cx="10058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product out of stock for six weeks builds its pairings from the weeks it was available. It will look less connected than it is.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9B3EFAF-A91F-43FF-B8EE-00F7063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8D6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029591-8CE4-4CD1-8DCD-D3ABF71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4ECB04-56DC-4167-8702-F274C928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37760"/>
            <a:ext cx="10058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 cannot decide anything</a:t>
            </a:r>
            <a:endParaRPr sz="2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9AA2A60-EEA1-4C44-9258-F4E7E302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10058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Nothing writes to a trading system. Every recommendation is a suggestion a person accepts or rejects. That is a design decision, not a limitation.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700343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4969FC-EEEC-410D-B841-499DEEB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B0B0B"/>
                </a:solidFill>
                <a:latin typeface="Cambria"/>
                <a:ea typeface="Cambria"/>
                <a:cs typeface="Cambria"/>
              </a:rPr>
              <a:t>Reading the simulated adoption report</a:t>
            </a:r>
            <a:endParaRPr sz="3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64F1390-CC7B-46FA-86F6-E60FB90C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1556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Simulated weekly reach — % of 62 fictional users active that week</a:t>
            </a:r>
            <a:endParaRPr sz="1500"/>
          </a:p>
        </p:txBody>
      </p:sp>
      <p:graphicFrame>
        <p:nvGraphicFramePr>
          <p:cNvPr id="12" name="Chart 0"/>
          <p:cNvGraphicFramePr/>
          <p:nvPr/>
        </p:nvGraphicFramePr>
        <p:xfrm>
          <a:off xmlns:a="http://schemas.openxmlformats.org/drawingml/2006/main" x="640080" y="1828800"/>
          <a:ext xmlns:a="http://schemas.openxmlformats.org/drawingml/2006/main" cx="6949440" cy="32918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9f37836c97943b6"/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4A006C6-B453-45AB-B809-E88DE98E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291840" cy="329184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2C3A7A"/>
          </a:solidFill>
          <a:ln xmlns:a="http://schemas.openxmlformats.org/drawingml/2006/main" w="12700">
            <a:solidFill>
              <a:srgbClr val="2C3A7A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DC4D141-5883-49C2-A5EB-A673208A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03120"/>
            <a:ext cx="2743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Illustrative workshop dates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A0AB02F-C747-4A0A-88DF-ACC7C56E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743200"/>
            <a:ext cx="27432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These changes are generated examples.</a:t>
            </a:r>
            <a:endParaRPr sz="1350"/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They do not measure workshop impact.</a:t>
            </a:r>
            <a:endParaRPr sz="1350"/>
          </a:p>
          <a:p xmlns:a="http://schemas.openxmlformats.org/drawingml/2006/main">
            <a:pPr marL="0" indent="0">
              <a:buNone/>
            </a:pPr>
            <a:endParaRPr sz="1350"/>
          </a:p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With real telemetry, check sustained use, missing data and a comparison group before attributing change to training.</a:t>
            </a:r>
            <a:endParaRPr sz="13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D258156-63EF-451B-A400-207A6D87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52514E"/>
                </a:solidFill>
                <a:latin typeface="Calibri"/>
                <a:ea typeface="Calibri"/>
                <a:cs typeface="Calibri"/>
              </a:rPr>
              <a:t>Exercise: identify the evidence needed to distinguish sustained use from a short-lived spike.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5895952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2026-09-04T00:47:46.9820000Z</dcterms:created>
  <dcterms:modified xsi:type="dcterms:W3CDTF">2026-09-04T00:47:46.9820000Z</dcterms:modified>
</coreProperties>
</file>