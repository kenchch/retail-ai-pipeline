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Reach</c:v>
                </c:pt>
              </c:strCache>
            </c:strRef>
          </c:tx>
          <c:spPr>
            <a:solidFill>
              <a:srgbClr val="2A78D6"/>
            </a:solidFill>
            <a:ln w="381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W1</c:v>
                  </c:pt>
                  <c:pt idx="1">
                    <c:v>W2</c:v>
                  </c:pt>
                  <c:pt idx="2">
                    <c:v>W3</c:v>
                  </c:pt>
                  <c:pt idx="3">
                    <c:v>W4</c:v>
                  </c:pt>
                  <c:pt idx="4">
                    <c:v>W5</c:v>
                  </c:pt>
                  <c:pt idx="5">
                    <c:v>W6</c:v>
                  </c:pt>
                  <c:pt idx="6">
                    <c:v>W7</c:v>
                  </c:pt>
                  <c:pt idx="7">
                    <c:v>W8</c:v>
                  </c:pt>
                  <c:pt idx="8">
                    <c:v>W9</c:v>
                  </c:pt>
                  <c:pt idx="9">
                    <c:v>W10</c:v>
                  </c:pt>
                  <c:pt idx="10">
                    <c:v>W11</c:v>
                  </c:pt>
                  <c:pt idx="11">
                    <c:v>W12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6.5</c:v>
                </c:pt>
                <c:pt idx="1">
                  <c:v>19.4</c:v>
                </c:pt>
                <c:pt idx="2">
                  <c:v>41.9</c:v>
                </c:pt>
                <c:pt idx="3">
                  <c:v>30.6</c:v>
                </c:pt>
                <c:pt idx="4">
                  <c:v>32.3</c:v>
                </c:pt>
                <c:pt idx="5">
                  <c:v>25.8</c:v>
                </c:pt>
                <c:pt idx="6">
                  <c:v>35.5</c:v>
                </c:pt>
                <c:pt idx="7">
                  <c:v>46.8</c:v>
                </c:pt>
                <c:pt idx="8">
                  <c:v>48.4</c:v>
                </c:pt>
                <c:pt idx="9">
                  <c:v>48.4</c:v>
                </c:pt>
                <c:pt idx="10">
                  <c:v>51.6</c:v>
                </c:pt>
                <c:pt idx="11">
                  <c:v>41.9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12700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78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open with a demo. Open with the failure on slide 2 - it answers the question the room is actually holding ('is this going to embarrass me?') in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directly: would you have shipped this? Let them react before explaining anything. Do not resolve it yet - the resolution is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 each cause back to the slide-2 row. The seasonal line is cause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for slide 2. Say it slowly and let it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Protect these 15 minutes. If running late, cut the limits slide and email it - never cut this exercise. Row 5 is the one that matters: high confidence, lift of 1.1. Every group so far has had someone trust it on confidence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Frequently Bought Together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...and the three things it can't 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minutes  ·  no prerequisites  ·  you will not be asked to write any code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 ·  business engagement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Would you have shipped this?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recommendation from the live tool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949440" cy="2834640"/>
          </a:xfrm>
          <a:prstGeom prst="roundRect">
            <a:avLst>
              <a:gd name="adj" fmla="val 3871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031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VINTAGE UNION JACK BUNTING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51460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 →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8803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SEASONAL LINE THAT WAS IN EVERY BASKET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34747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0.61</a:t>
            </a:r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looks convincing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388620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1.02</a:t>
            </a:r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the pairing is no more likely than chance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0" y="1828800"/>
            <a:ext cx="3291840" cy="2834640"/>
          </a:xfrm>
          <a:prstGeom prst="roundRect">
            <a:avLst>
              <a:gd name="adj" fmla="val 3871"/>
            </a:avLst>
          </a:prstGeom>
          <a:solidFill>
            <a:srgbClr val="2C3A7A"/>
          </a:solidFill>
          <a:ln w="12700">
            <a:solidFill>
              <a:srgbClr val="2C3A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 that thought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503920" y="2651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this slide is real.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0:25 you will be able to say in one sentence why this row is worthless.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the number people read. Lift is the number that decides.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reasons a recommendation goes wrong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order of how often we see them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4028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7889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few baskets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24612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pairing built on 30 baskets can be a coincidence. The basket count is your sample size - read it first, every time.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43400" y="192024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24028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63440" y="27889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promotion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324612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two products were in the same offer, they look associated for as long as that period sits in the data.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192024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224028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66760" y="27889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isn't behaviour at all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66760" y="324612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rows come from the product description text, not from anything anyone bought. They are labelled.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are the model being clever or stupid. They are all the data telling the truth about something you didn't ask about.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 recommendation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row, one number at a time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CHILDS GARDEN SPADE PINK</a:t>
            </a:r>
            <a:pPr indent="0" marL="0">
              <a:buNone/>
            </a:pPr>
            <a:r>
              <a:rPr lang="en-US" sz="18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→     </a:t>
            </a:r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CHILDS GARDEN SPADE BLUE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31089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960120" y="38862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42519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sample size. Read this first — a huge lift on 8 baskets is noise.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29260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31089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663440" y="38862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42519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baskets with the pink spade, 85% also had the blue one.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292608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6760" y="31089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366760" y="38862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42519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234× more likely than chance. This is the ranking column.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go back to the bad row: confidence 0.61, lift 1.02. Lift near 1 means "chance". That's the whole answer.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lift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column you sort by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7452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relationship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303520" y="1874520"/>
            <a:ext cx="6309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co-occur about as often as chance predicts. Ignore.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862072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– 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468880" y="2862072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association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303520" y="2862072"/>
            <a:ext cx="6309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but weak. Fine for a "you might also like" slot.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49624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849624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+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468880" y="3849624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association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03520" y="3849624"/>
            <a:ext cx="6309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a genuine complement.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837176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837176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+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468880" y="4837176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or set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03520" y="4837176"/>
            <a:ext cx="6309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Colour/size variants, or two halves of one purchase.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sort by confidence? A product that's in a third of all baskets shows high confidence against everything. Lift corrects for that.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signals feed the list — and they are not equal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method column before you build a plan on a row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03520" cy="3291840"/>
          </a:xfrm>
          <a:prstGeom prst="roundRect">
            <a:avLst>
              <a:gd name="adj" fmla="val 3333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240280"/>
            <a:ext cx="384048" cy="384048"/>
          </a:xfrm>
          <a:prstGeom prst="ellipse">
            <a:avLst/>
          </a:prstGeom>
          <a:solidFill>
            <a:srgbClr val="0CA30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co_purchase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28803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what people actually bought together.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real signal. Trust it in proportion to the basket count.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about 30% of the catalogue.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0" y="1920240"/>
            <a:ext cx="4937760" cy="3291840"/>
          </a:xfrm>
          <a:prstGeom prst="roundRect">
            <a:avLst>
              <a:gd name="adj" fmla="val 3333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49440" y="2240280"/>
            <a:ext cx="384048" cy="384048"/>
          </a:xfrm>
          <a:prstGeom prst="ellipse">
            <a:avLst/>
          </a:prstGeom>
          <a:solidFill>
            <a:srgbClr val="D03B3B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9808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content_tfidf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49440" y="2880360"/>
            <a:ext cx="4206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the product description text.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has been observed buying these together. They simply read alike.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starting point — never evidence.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keep the weaker signal at all? Without it, 7 products in 10 show an empty panel — and people generalise from the first empty screen they see.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turn — 15 minutes, in pairs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it / don't trust it / need more information. Five real rows.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18745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75120" y="1874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0" y="1874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0" y="18745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286000"/>
            <a:ext cx="10881360" cy="603504"/>
          </a:xfrm>
          <a:prstGeom prst="roundRect">
            <a:avLst>
              <a:gd name="adj" fmla="val 18182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8600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2286000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Childs Garden Spade Pink → Blue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22860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228600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0" y="2286000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999232"/>
            <a:ext cx="10881360" cy="603504"/>
          </a:xfrm>
          <a:prstGeom prst="roundRect">
            <a:avLst>
              <a:gd name="adj" fmla="val 18182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999232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2999232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Frame Covent Gdn → Oxford 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99923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0" y="299923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0" y="2999232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3712464"/>
            <a:ext cx="10881360" cy="603504"/>
          </a:xfrm>
          <a:prstGeom prst="roundRect">
            <a:avLst>
              <a:gd name="adj" fmla="val 18182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3712464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3712464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line, method = content_tfidf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371246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0" y="371246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58400" y="3712464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4425696"/>
            <a:ext cx="10881360" cy="603504"/>
          </a:xfrm>
          <a:prstGeom prst="roundRect">
            <a:avLst>
              <a:gd name="adj" fmla="val 18182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425696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371600" y="4425696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Silk Fan → Lunch Bag Vintage Doily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675120" y="442569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229600" y="442569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0" y="4425696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0080" y="5138928"/>
            <a:ext cx="10881360" cy="603504"/>
          </a:xfrm>
          <a:prstGeom prst="roundRect">
            <a:avLst>
              <a:gd name="adj" fmla="val 18182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5138928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371600" y="5138928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best-seller → almost everything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675120" y="513892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410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229600" y="513892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058400" y="5138928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it cannot do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first, and unprompted — the credibility of everything else depends on it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2103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tell you why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54203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Bunting and paper plates co-occur because both are party purchases — not because one drives the other. Placing them together is sensible. Concluding that discounting one lifts the other is not.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3520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see what you didn't stock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395935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 out of stock for six weeks builds its pairings from the weeks it was available. It will look less connected than it is.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49377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decide anything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80160" y="537667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writes to a trading system. Every recommendation is a suggestion a person accepts or rejects. That is a design decision, not a limitation.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it's going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reach — % of the 62 licensed users active that week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69494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828800"/>
            <a:ext cx="3291840" cy="3566160"/>
          </a:xfrm>
          <a:prstGeom prst="roundRect">
            <a:avLst>
              <a:gd name="adj" fmla="val 3333"/>
            </a:avLst>
          </a:prstGeom>
          <a:solidFill>
            <a:srgbClr val="F1F5FC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4964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jumps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549640" y="251460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and week 8 are these workshops.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 → 42% after the first.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→ 47% after the second.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held rather than decaying — which is the part that matters. A spike that decays means people looked once.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is the school holidays. We report the dips too — a chart with no dips is a chart nobody believes.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ask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2286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it once this week on a real decision — and tell us what happened.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356616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2C3A7A"/>
          </a:solidFill>
          <a:ln w="12700">
            <a:solidFill>
              <a:srgbClr val="2C3A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79476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button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4224528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clicks and a score. We read every one — the June filtering change came from this.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356616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2C3A7A"/>
          </a:solidFill>
          <a:ln w="12700">
            <a:solidFill>
              <a:srgbClr val="2C3A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379476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looks wrong?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63440" y="4224528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so, and include both product codes. More useful than a low score with no comment.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356616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2C3A7A"/>
          </a:solidFill>
          <a:ln w="12700">
            <a:solidFill>
              <a:srgbClr val="2C3A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6760" y="379476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a session for your team?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66760" y="4224528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to the monthly update. Booked within a week.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 ·  business engagement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Frequently Bought Together - AI literacy workshop</dc:title>
  <dc:subject>PptxGenJS Presentation</dc:subject>
  <dc:creator>AI Engineering - business engagement</dc:creator>
  <cp:lastModifiedBy>AI Engineering - business engagement</cp:lastModifiedBy>
  <cp:revision>1</cp:revision>
  <dcterms:created xsi:type="dcterms:W3CDTF">2026-08-02T10:27:57Z</dcterms:created>
  <dcterms:modified xsi:type="dcterms:W3CDTF">2026-08-02T10:27:57Z</dcterms:modified>
</cp:coreProperties>
</file>